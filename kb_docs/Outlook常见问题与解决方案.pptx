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notesSlide" Target="notesSlides/notesSlide3.xml"/><Relationship Id="rId39" Type="http://schemas.openxmlformats.org/officeDocument/2006/relationships/customXml" Target="../customXml/item1.xml"/><Relationship Id="rId21" Type="http://schemas.openxmlformats.org/officeDocument/2006/relationships/slide" Target="slides/slide13.xml"/><Relationship Id="rId34" Type="http://schemas.openxmlformats.org/officeDocument/2006/relationships/notesSlide" Target="notesSlides/notesSlide11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notesSlide" Target="notesSlides/notesSlide2.xml"/><Relationship Id="rId33" Type="http://schemas.openxmlformats.org/officeDocument/2006/relationships/notesSlide" Target="notesSlides/notesSlide10.xml"/><Relationship Id="rId38" Type="http://schemas.openxmlformats.org/officeDocument/2006/relationships/notesSlide" Target="notesSlides/notesSlide15.xml"/><Relationship Id="rId7" Type="http://schemas.openxmlformats.org/officeDocument/2006/relationships/theme" Target="theme/theme2.xml"/><Relationship Id="rId16" Type="http://schemas.openxmlformats.org/officeDocument/2006/relationships/slide" Target="slides/slide8.xml"/><Relationship Id="rId2" Type="http://schemas.openxmlformats.org/officeDocument/2006/relationships/viewProps" Target="viewProps.xml"/><Relationship Id="rId20" Type="http://schemas.openxmlformats.org/officeDocument/2006/relationships/slide" Target="slides/slide12.xml"/><Relationship Id="rId29" Type="http://schemas.openxmlformats.org/officeDocument/2006/relationships/notesSlide" Target="notesSlides/notesSlide6.xml"/><Relationship Id="rId41" Type="http://schemas.openxmlformats.org/officeDocument/2006/relationships/customXml" Target="../customXml/item3.xml"/><Relationship Id="rId1" Type="http://schemas.openxmlformats.org/officeDocument/2006/relationships/theme" Target="theme/theme1.xml"/><Relationship Id="rId11" Type="http://schemas.openxmlformats.org/officeDocument/2006/relationships/slide" Target="slides/slide3.xml"/><Relationship Id="rId24" Type="http://schemas.openxmlformats.org/officeDocument/2006/relationships/notesSlide" Target="notesSlides/notesSlide1.xml"/><Relationship Id="rId32" Type="http://schemas.openxmlformats.org/officeDocument/2006/relationships/notesSlide" Target="notesSlides/notesSlide9.xml"/><Relationship Id="rId37" Type="http://schemas.openxmlformats.org/officeDocument/2006/relationships/notesSlide" Target="notesSlides/notesSlide14.xml"/><Relationship Id="rId6" Type="http://schemas.openxmlformats.org/officeDocument/2006/relationships/notesMaster" Target="notesMasters/notesMaster1.xml"/><Relationship Id="rId40" Type="http://schemas.openxmlformats.org/officeDocument/2006/relationships/customXml" Target="../customXml/item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notesSlide" Target="notesSlides/notesSlide5.xml"/><Relationship Id="rId36" Type="http://schemas.openxmlformats.org/officeDocument/2006/relationships/notesSlide" Target="notesSlides/notesSlide13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notesSlide" Target="notesSlides/notesSlide8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notesSlide" Target="notesSlides/notesSlide4.xml"/><Relationship Id="rId30" Type="http://schemas.openxmlformats.org/officeDocument/2006/relationships/notesSlide" Target="notesSlides/notesSlide7.xml"/><Relationship Id="rId35" Type="http://schemas.openxmlformats.org/officeDocument/2006/relationships/notesSlide" Target="notesSlides/notes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8" Type="http://schemas.openxmlformats.org/officeDocument/2006/relationships/slideMaster" Target="slideMasters/slideMaster2.xml"/><Relationship Id="rId3" Type="http://schemas.openxmlformats.org/officeDocument/2006/relationships/presProps" Target="presProps.xml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欢迎参加本次关于Outlook常见问题与解决方案的内部培训。在日常工作中，我们经常会遇到各种Outlook使用上的困扰，比如邮件发不出去、收不到会议邀请、搜索功能失灵等等。今天的培训将针对这些高频问题，为大家提供清晰的诊断思路和实用的解决方法，帮助大家更高效地使用Outlook，提升工作效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培训将分为六个部分。首先，我们会讲解最常见的收发邮件问题。接着，是关于日历和会议的常见困扰。然后，我们会探讨搜索功能失效的原因和解决办法。之后，是账号配置相关的问题，比如启动慢和密码弹窗。第五部分，我们会深入了解PST和OST数据文件的问题。最后，我将分享一个快速诊断问题根源的黄金法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首先来看收发邮件的问题。第一个常见问题是邮件发不出去，卡在发件箱。这通常是由四个原因引起的：附件过大、网络问题、不小心切换到了离线模式，或者本地的OST数据文件损坏。解决方法也很直接：检查附件大小，确保在线工作，确认网络连接，如果问题依旧，可能需要IT支持来修复OST文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个问题是收不到新邮件。这可能是因为你的邮箱空间满了，或者设置的规则把邮件自动移走了。另外，邮件也可能被服务器拦截了。最关键的排查步骤是登录OWA网页版看看。如果网页版能收到，那就是你本地Outlook的问题；如果网页版也收不到，那就需要联系IT部门检查服务器端的设置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个问题是收到的邮件显示乱码。这通常是因为发件人和你的邮件编码格式不匹配。一个临时的解决方法是在Outlook中手动切换邮件的阅读编码。更根本的解决方法是建议发件人使用UTF-8编码发送邮件，这是国际通用标准，兼容性最好。同时，检查一下你的Outlook字体设置，确保使用的是系统中已安装的常用字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我们看看日历和会议相关的问题。第一个痛点是收不到会议邀请。这很可能是因为邀请被当成垃圾邮件拦截了，或者被你的邮件规则自动移动了。首先检查垃圾邮件文件夹，然后查看你的邮件规则。同样，登录OWA网页版是判断问题出在本地还是服务器的关键步骤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个日历问题是无法打开同事共享的日历。最常见的原因是对方没有给你足够的权限。请对方检查并设置正确的权限。另外，确保你是通过对方的完整邮箱地址来添加日历的。如果权限没问题，那可能是本地缓存的问题，重建OST文件通常能解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个日历问题是忙闲状态显示错误。这可能是因为同事把日程设为私有了，或者本地缓存没有及时更新。首先，请同事检查是否给了你查看忙闲状态的权限。然后，你可以手动强制同步一下。如果问题依旧，同样可以通过OWA来判断是本地还是服务器的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搜索功能失灵是另一个高频问题。Outlook的搜索依赖于Windows系统的索引服务。如果搜不到邮件，很大概率是索引损坏了。解决方法是重建Windows搜索索引。这个过程可能需要几个小时，但重建完成后，搜索功能通常就能恢复正常。同时，要确保你的Outlook数据文件被正确包含在索引范围内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是账号和配置问题。很多人抱怨Outlook启动慢、卡死甚至闪退。最常见的原因是安装了太多第三方加载项，它们可能相互冲突。你可以尝试用安全模式启动Outlook，如果安全模式下正常，就说明是加载项的问题，需要逐一禁用排查。另外，过大或损坏的OST文件也是性能杀手，定期归档和重建OST能有效提升性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另一个烦人的问题是Outlook反复提示输入密码。这通常是因为Windows凭据管理器里存储的旧密码信息损坏了。解决方法很简单：打开凭据管理器，删除掉和你邮箱相关的旧凭据，然后重启Outlook重新登录即可。如果问题依旧，可能需要检查代理设置或联系IT确认账户配置是否正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我们来谈谈数据文件，也就是PST和OST。简单来说，OST是Exchange账户的本地缓存文件，而PST通常用于归档或POP3账户。PST文件有大小限制，超出后会报错。解决方法包括压缩文件、拆分文件，或者更好的方法是使用Exchange账户的自动存档功能来管理旧邮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OST文件损坏是导致各种奇怪问题的根源。如果你的Outlook行为异常，可以尝试用微软官方的Scanpst.exe工具来修复。如果修复失败，最后的办法就是重建OST文件。这需要删除并重新创建你的邮件配置文件，Outlook会重新从服务器下载所有数据，所以可能需要一些时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想分享一个快速诊断问题的黄金法则：永远先登录OWA网页版试试。如果网页版一切正常，那问题肯定出在你本地的Outlook客户端，比如OST文件、加载项或者索引。如果网页版也有同样的问题，那就是服务器端的问题，需要联系IT部门来解决。这个方法能帮你快速定位问题根源，节省大量排查时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分享到此结束。希望今天的内容能帮助大家更好地应对Outlook使用中遇到的各种问题。现在是问答环节，大家有任何疑问都可以提出来。如果之后还有其他问题，也欢迎随时联系我们IT支持部门。感谢大家的聆听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13" Target="../media/image13.png" Type="http://schemas.openxmlformats.org/officeDocument/2006/relationships/image"/><Relationship Id="rId14" Target="../media/image14.svg" Type="http://schemas.openxmlformats.org/officeDocument/2006/relationships/image"/><Relationship Id="rId15" Target="../notesSlides/notesSlide2.xml" Type="http://schemas.openxmlformats.org/officeDocument/2006/relationships/notesSlide"/><Relationship Id="rId2" Target="../media/image6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.jpeg" Type="http://schemas.openxmlformats.org/officeDocument/2006/relationships/image"/><Relationship Id="rId3" Target="../media/image15.jpeg" Type="http://schemas.openxmlformats.org/officeDocument/2006/relationships/image"/><Relationship Id="rId4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.jpeg" Type="http://schemas.openxmlformats.org/officeDocument/2006/relationships/image"/><Relationship Id="rId3" Target="../media/image16.jpeg" Type="http://schemas.openxmlformats.org/officeDocument/2006/relationships/image"/><Relationship Id="rId4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2.svg" Type="http://schemas.openxmlformats.org/officeDocument/2006/relationships/image"/><Relationship Id="rId11" Target="../media/image23.png" Type="http://schemas.openxmlformats.org/officeDocument/2006/relationships/image"/><Relationship Id="rId12" Target="../media/image24.svg" Type="http://schemas.openxmlformats.org/officeDocument/2006/relationships/image"/><Relationship Id="rId13" Target="../media/image25.png" Type="http://schemas.openxmlformats.org/officeDocument/2006/relationships/image"/><Relationship Id="rId14" Target="../media/image26.svg" Type="http://schemas.openxmlformats.org/officeDocument/2006/relationships/image"/><Relationship Id="rId15" Target="../notesSlides/notesSlide5.xml" Type="http://schemas.openxmlformats.org/officeDocument/2006/relationships/notesSlide"/><Relationship Id="rId2" Target="../media/image6.jpe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6.xml" Type="http://schemas.openxmlformats.org/officeDocument/2006/relationships/notesSlide"/><Relationship Id="rId2" Target="../media/image6.jpeg" Type="http://schemas.openxmlformats.org/officeDocument/2006/relationships/image"/><Relationship Id="rId3" Target="../media/image27.jpe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28.png" Type="http://schemas.openxmlformats.org/officeDocument/2006/relationships/image"/><Relationship Id="rId9" Target="../media/image2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.jpeg" Type="http://schemas.openxmlformats.org/officeDocument/2006/relationships/image"/><Relationship Id="rId3" Target="../media/image30.jpeg" Type="http://schemas.openxmlformats.org/officeDocument/2006/relationships/image"/><Relationship Id="rId4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.jpe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.jpeg" Type="http://schemas.openxmlformats.org/officeDocument/2006/relationships/image"/><Relationship Id="rId3" Target="../media/image31.jpeg" Type="http://schemas.openxmlformats.org/officeDocument/2006/relationships/image"/><Relationship Id="rId4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.jpeg" Type="http://schemas.openxmlformats.org/officeDocument/2006/relationships/image"/><Relationship Id="rId3" Target="../media/image32.jpeg" Type="http://schemas.openxmlformats.org/officeDocument/2006/relationships/image"/><Relationship Id="rId4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0.svg" Type="http://schemas.openxmlformats.org/officeDocument/2006/relationships/image"/><Relationship Id="rId11" Target="../media/image41.png" Type="http://schemas.openxmlformats.org/officeDocument/2006/relationships/image"/><Relationship Id="rId12" Target="../media/image42.svg" Type="http://schemas.openxmlformats.org/officeDocument/2006/relationships/image"/><Relationship Id="rId13" Target="../media/image43.png" Type="http://schemas.openxmlformats.org/officeDocument/2006/relationships/image"/><Relationship Id="rId14" Target="../media/image44.svg" Type="http://schemas.openxmlformats.org/officeDocument/2006/relationships/image"/><Relationship Id="rId15" Target="../media/image45.png" Type="http://schemas.openxmlformats.org/officeDocument/2006/relationships/image"/><Relationship Id="rId16" Target="../media/image46.svg" Type="http://schemas.openxmlformats.org/officeDocument/2006/relationships/image"/><Relationship Id="rId17" Target="../notesSlides/notesSlide11.xml" Type="http://schemas.openxmlformats.org/officeDocument/2006/relationships/notesSlide"/><Relationship Id="rId2" Target="../media/image6.jpeg" Type="http://schemas.openxmlformats.org/officeDocument/2006/relationships/image"/><Relationship Id="rId3" Target="../media/image33.png" Type="http://schemas.openxmlformats.org/officeDocument/2006/relationships/image"/><Relationship Id="rId4" Target="../media/image34.svg" Type="http://schemas.openxmlformats.org/officeDocument/2006/relationships/image"/><Relationship Id="rId5" Target="../media/image35.png" Type="http://schemas.openxmlformats.org/officeDocument/2006/relationships/image"/><Relationship Id="rId6" Target="../media/image36.svg" Type="http://schemas.openxmlformats.org/officeDocument/2006/relationships/image"/><Relationship Id="rId7" Target="../media/image37.png" Type="http://schemas.openxmlformats.org/officeDocument/2006/relationships/image"/><Relationship Id="rId8" Target="../media/image38.svg" Type="http://schemas.openxmlformats.org/officeDocument/2006/relationships/image"/><Relationship Id="rId9" Target="../media/image3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2.xml" Type="http://schemas.openxmlformats.org/officeDocument/2006/relationships/notesSlide"/><Relationship Id="rId2" Target="../media/image6.jpeg" Type="http://schemas.openxmlformats.org/officeDocument/2006/relationships/image"/><Relationship Id="rId3" Target="../media/image47.jpeg" Type="http://schemas.openxmlformats.org/officeDocument/2006/relationships/image"/><Relationship Id="rId4" Target="../media/image48.png" Type="http://schemas.openxmlformats.org/officeDocument/2006/relationships/image"/><Relationship Id="rId5" Target="../media/image49.svg" Type="http://schemas.openxmlformats.org/officeDocument/2006/relationships/image"/><Relationship Id="rId6" Target="../media/image50.png" Type="http://schemas.openxmlformats.org/officeDocument/2006/relationships/image"/><Relationship Id="rId7" Target="../media/image51.svg" Type="http://schemas.openxmlformats.org/officeDocument/2006/relationships/image"/><Relationship Id="rId8" Target="../media/image4.png" Type="http://schemas.openxmlformats.org/officeDocument/2006/relationships/image"/><Relationship Id="rId9" Target="../media/image5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59.svg" Type="http://schemas.openxmlformats.org/officeDocument/2006/relationships/image"/><Relationship Id="rId11" Target="../notesSlides/notesSlide13.xml" Type="http://schemas.openxmlformats.org/officeDocument/2006/relationships/notesSlide"/><Relationship Id="rId2" Target="../media/image6.jpeg" Type="http://schemas.openxmlformats.org/officeDocument/2006/relationships/image"/><Relationship Id="rId3" Target="../media/image52.png" Type="http://schemas.openxmlformats.org/officeDocument/2006/relationships/image"/><Relationship Id="rId4" Target="../media/image53.svg" Type="http://schemas.openxmlformats.org/officeDocument/2006/relationships/image"/><Relationship Id="rId5" Target="../media/image54.png" Type="http://schemas.openxmlformats.org/officeDocument/2006/relationships/image"/><Relationship Id="rId6" Target="../media/image55.svg" Type="http://schemas.openxmlformats.org/officeDocument/2006/relationships/image"/><Relationship Id="rId7" Target="../media/image56.png" Type="http://schemas.openxmlformats.org/officeDocument/2006/relationships/image"/><Relationship Id="rId8" Target="../media/image57.svg" Type="http://schemas.openxmlformats.org/officeDocument/2006/relationships/image"/><Relationship Id="rId9" Target="../media/image5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.jpeg" Type="http://schemas.openxmlformats.org/officeDocument/2006/relationships/image"/><Relationship Id="rId3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0.jpeg" Type="http://schemas.openxmlformats.org/officeDocument/2006/relationships/image"/><Relationship Id="rId3" Target="../notesSlides/notesSlide15.xml" Type="http://schemas.openxmlformats.org/officeDocument/2006/relationships/notesSlide"/><Relationship Id="rId4" Target="../media/image6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905000"/>
            <a:ext cx="1016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Outlook常见问题与解决方案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355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内部培训材料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4699000"/>
            <a:ext cx="5334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270000" y="4953000"/>
            <a:ext cx="279400" cy="279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676400" y="4927600"/>
            <a:ext cx="4445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主讲人：IT支持部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270000" y="5524500"/>
            <a:ext cx="279400" cy="279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676400" y="5499100"/>
            <a:ext cx="4445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日期：2026年9月15日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培训内容概览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E5E7EB">
                <a:alpha val="8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879600"/>
            <a:ext cx="457200" cy="4572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651000" y="18415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 收发邮件类问题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651000" y="2286000"/>
            <a:ext cx="419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解析邮件发送失败、接收异常及乱码显示的成因，掌握针对性的排查步骤与解决方案。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23000" y="1651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E5E7EB">
                <a:alpha val="8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77000" y="1879600"/>
            <a:ext cx="457200" cy="4572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7112000" y="18415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 日历与会议问题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112000" y="2286000"/>
            <a:ext cx="419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解决会议邀请丢失、共享日历无法访问、忙闲状态同步错误等协作场景中的常见障碍。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32385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E5E7EB">
                <a:alpha val="8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3467100"/>
            <a:ext cx="457200" cy="4572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651000" y="34290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03 搜索功能问题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651000" y="3873500"/>
            <a:ext cx="419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深入分析搜索结果为空、匹配不准确或索引失效的问题，学习重建索引与优化搜索的方法。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23000" y="32385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E5E7EB">
                <a:alpha val="8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477000" y="3467100"/>
            <a:ext cx="457200" cy="4572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7112000" y="34290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04 账号与配置问题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112000" y="3873500"/>
            <a:ext cx="419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处理客户端启动缓慢、频繁闪退、反复要求输入密码等配置异常，确保账户稳定连接。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" y="4826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E5E7EB">
                <a:alpha val="8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1016000" y="5054600"/>
            <a:ext cx="457200" cy="4572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1651000" y="50165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05 数据文件（PST/OST）问题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651000" y="5461000"/>
            <a:ext cx="419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解决因数据文件过大导致的性能下降，以及文件损坏引发的无法启动或同步异常问题。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223000" y="4826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E5E7EB">
                <a:alpha val="8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6477000" y="5054600"/>
            <a:ext cx="457200" cy="4572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7112000" y="50165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06 快速诊断黄金法则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112000" y="5461000"/>
            <a:ext cx="419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掌握快速定位问题根源的核心逻辑，学习高效的故障排查步骤，提升解决问题的效率。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收发邮件类问题 (1/3)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762000" y="1524000"/>
            <a:ext cx="2032000" cy="2032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3810000"/>
            <a:ext cx="3556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4000500"/>
            <a:ext cx="330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❓ 问题现象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4445000"/>
            <a:ext cx="3175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点击发送后，邮件长时间滞留在“发件箱”中，状态显示为“正在发送”或无任何变化，无法正常送达收件人。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826000" y="1524000"/>
            <a:ext cx="34925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016500" y="1714500"/>
            <a:ext cx="3238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🔍 核心诱因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016500" y="2159000"/>
            <a:ext cx="32385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1. 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附件超限：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单封邮件大小超出服务器限制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2. 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网络异常：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连接不稳定或临时中断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3. 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模式误触：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客户端切换至“离线工作”状态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4. 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文件损坏：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本地OST缓存文件损坏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445500" y="1524000"/>
            <a:ext cx="34925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636000" y="1714500"/>
            <a:ext cx="3238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🛠️ 排查与修复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636000" y="2159000"/>
            <a:ext cx="32385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1. 检查附件大小，拆分大文件或使用云链接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2. 确认网络通畅，尝试重启路由器或切换网络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3. 在状态栏确认“在线模式”，取消离线勾选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4. 联系IT使用工具修复OST或重建配置文件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826000" y="4127500"/>
            <a:ext cx="7112000" cy="19685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016500" y="4318000"/>
            <a:ext cx="673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💡 运维专家建议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016500" y="4762500"/>
            <a:ext cx="6731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日常建议定期清理本地邮件缓存文件，避免OST文件过大导致的性能问题。发送大文件时，优先使用企业云盘或文件传输工具生成分享链接，既能规避邮件大小限制，也能提升传输效率。若问题频发，建议检查电脑网络设置或联系IT部门排查服务器连接配置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收发邮件类问题 (2/3)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5334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cmpd="sng" cap="flat">
            <a:solidFill>
              <a:srgbClr val="E6CFCF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1524000"/>
            <a:ext cx="4953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▍问题现象：收不到新邮件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其他同事能正常接收邮件，但个人Outlook客户端长时间无新邮件到达，且无任何退信提示，影响业务沟通。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667000"/>
            <a:ext cx="2603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89000" y="2794000"/>
            <a:ext cx="2349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 邮箱空间已满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邮箱存储容量达到上限，导致服务器无法推送新邮件，需清理冗余文件。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492500" y="2667000"/>
            <a:ext cx="2603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619500" y="2794000"/>
            <a:ext cx="2349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 规则自动移动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设置的邮件规则将新邮件自动归类或移动至“垃圾邮件”或其他非收件箱文件夹。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4127500"/>
            <a:ext cx="2603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89000" y="4254500"/>
            <a:ext cx="2349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03 服务器拦截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企业反垃圾邮件策略或防火墙将邮件误判为垃圾邮件并进行了隔离。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492500" y="4127500"/>
            <a:ext cx="2603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619500" y="4254500"/>
            <a:ext cx="2349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04 同步延迟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Exchange服务器与本地客户端之间的网络连接不稳定，导致同步存在延迟。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3"/>
          <a:srcRect l="945" r="945" t="0" b="0"/>
          <a:stretch>
            <a:fillRect/>
          </a:stretch>
        </p:blipFill>
        <p:spPr>
          <a:xfrm rot="0" flipH="false" flipV="false">
            <a:off x="6350000" y="1397000"/>
            <a:ext cx="5080000" cy="2286000"/>
          </a:xfrm>
          <a:prstGeom prst="roundRect">
            <a:avLst>
              <a:gd name="adj" fmla="val 5555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50800" blurRad="127000" algn="tl">
              <a:srgbClr val="000000">
                <a:alpha val="10000"/>
              </a:srgbClr>
            </a:outerShdw>
          </a:effectLst>
        </p:spPr>
      </p:pic>
      <p:sp>
        <p:nvSpPr>
          <p:cNvPr name="AutoShape 15" id="15"/>
          <p:cNvSpPr/>
          <p:nvPr/>
        </p:nvSpPr>
        <p:spPr>
          <a:xfrm rot="0" flipH="false" flipV="false">
            <a:off x="6350000" y="38735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🛠️ 快速排查与解决步骤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350000" y="4381500"/>
            <a:ext cx="24765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477000" y="4470400"/>
            <a:ext cx="2286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1. 清理存储空间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删除“已删除邮件”文件夹内容，或归档旧邮件以释放容量。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953500" y="4381500"/>
            <a:ext cx="24765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080500" y="4470400"/>
            <a:ext cx="2286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2. 检查邮件规则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进入“规则”设置，检查是否有将邮件移至其他文件夹的异常规则。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350000" y="5524500"/>
            <a:ext cx="24765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477000" y="5613400"/>
            <a:ext cx="2286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3. 登录OWA验证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若网页版有邮件则为客户端问题；若无则联系IT排查服务器端。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953500" y="5524500"/>
            <a:ext cx="24765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080500" y="5613400"/>
            <a:ext cx="2286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4. 手动强制同步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点击“发送/接收”选项卡，执行“发送/接收所有文件夹”操作。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收发邮件类问题 (3/3)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F3F4F6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854200"/>
            <a:ext cx="355600" cy="355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1676400"/>
            <a:ext cx="965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问题现象：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收到的邮件内容显示为无法识别的乱码字符或方块，完全无法阅读，严重影响信息的接收与处理效率。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794000"/>
            <a:ext cx="5207000" cy="1270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0226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460500" y="2946400"/>
            <a:ext cx="4445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166534"/>
                </a:solidFill>
                <a:latin typeface="Noto Sans SC"/>
                <a:ea typeface="Noto Sans SC"/>
                <a:cs typeface="Noto Sans SC"/>
                <a:sym typeface="Noto Sans SC"/>
              </a:rPr>
              <a:t>编码格式不兼容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发件人使用GBK等编码，与您的Outlook默认UTF-8编码不匹配，导致字符解析错误，出现乱码。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2794000"/>
            <a:ext cx="5207000" cy="1270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477000" y="30226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6921500" y="2946400"/>
            <a:ext cx="4445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166534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系统字体缺失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邮件包含特殊字体或生僻字体，您的系统未安装对应字体，导致文本无法正常渲染显示。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318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4318000"/>
            <a:ext cx="3429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52500" y="4546600"/>
            <a:ext cx="279400" cy="279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333500" y="4546600"/>
            <a:ext cx="2730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临时切换阅读编码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952500" y="4953000"/>
            <a:ext cx="304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打开乱码邮件，在“其他动作”菜单中选择“编码”，尝试切换为“简体中文(GB2312)”或“UTF-8”，即可临时正常显示。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381500" y="4318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381500" y="4318000"/>
            <a:ext cx="3429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4572000" y="4546600"/>
            <a:ext cx="279400" cy="2794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4953000" y="4546600"/>
            <a:ext cx="2730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规范发送编码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4572000" y="4953000"/>
            <a:ext cx="304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建议发件人在发送时将编码设置为“UTF-8”，这是国际通用标准，能最大程度避免跨平台的兼容性问题。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001000" y="4318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001000" y="4318000"/>
            <a:ext cx="3429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8191500" y="4546600"/>
            <a:ext cx="279400" cy="2794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8572500" y="4546600"/>
            <a:ext cx="2730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检查字体设置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191500" y="4953000"/>
            <a:ext cx="304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在Outlook选项中，确认默认字体为系统常用字体（如宋体、黑体），避免因字体缺失导致的显示异常。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日历与会议问题 (1/3)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762000" y="2032000"/>
            <a:ext cx="2794000" cy="2794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5080000"/>
            <a:ext cx="2794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会议邀请的及时同步是保障团队协作效率的基础，快速定位问题源头是解决之道。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064000" y="1651000"/>
            <a:ext cx="7366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318000" y="18415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4762500" y="1841500"/>
            <a:ext cx="6477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 问题现象：邀请“消失”不见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318000" y="2260600"/>
            <a:ext cx="6731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他人发送的会议邀请未出现在收件箱或日历视图中，导致无法及时查看日程安排，错过重要会议，直接影响跨部门协作效率。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064000" y="3238500"/>
            <a:ext cx="7366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4318000" y="34290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4762500" y="3429000"/>
            <a:ext cx="6477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 核心诱因：拦截与规则冲突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318000" y="3848100"/>
            <a:ext cx="6731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反垃圾策略误判：系统将邀请识别为垃圾邮件拦截；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规则自动归档：自定义邮件规则将邀请转移至其他文件夹；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权限限制：日历共享或外部访问权限未正确配置。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064000" y="4826000"/>
            <a:ext cx="7366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4318000" y="50165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4762500" y="5016500"/>
            <a:ext cx="6477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03 解决步骤：三步快速排查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318000" y="5435600"/>
            <a:ext cx="6731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1. 检查垃圾/归档文件夹，将发件人加入“安全发件人”；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2. 排查邮箱规则，移除自动移动邀请的规则；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3. 登录OWA网页版验证，区分客户端与服务器端问题。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日历与会议问题 (2/3)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231" b="231"/>
          <a:stretch>
            <a:fillRect/>
          </a:stretch>
        </p:blipFill>
        <p:spPr>
          <a:xfrm rot="0" flipH="false" flipV="false">
            <a:off x="762000" y="1651000"/>
            <a:ext cx="4318000" cy="2946400"/>
          </a:xfrm>
          <a:prstGeom prst="roundRect">
            <a:avLst>
              <a:gd name="adj" fmla="val 5172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50800" blurRad="127000" algn="tl">
              <a:srgbClr val="000000">
                <a:alpha val="10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4953000"/>
            <a:ext cx="431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图示：Outlook 日历共享界面与权限管理入口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461000" y="1651000"/>
            <a:ext cx="6096000" cy="1206500"/>
          </a:xfrm>
          <a:prstGeom prst="roundRect">
            <a:avLst>
              <a:gd name="adj" fmla="val 0"/>
            </a:avLst>
          </a:prstGeom>
          <a:solidFill>
            <a:srgbClr val="FEE2E2">
              <a:alpha val="60000"/>
            </a:srgbClr>
          </a:solidFill>
          <a:ln w="12700" cmpd="sng" cap="flat">
            <a:solidFill>
              <a:srgbClr val="FCA5A5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651500" y="1778000"/>
            <a:ext cx="5715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01 问题现象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尝试打开同事共享的日历时，系统提示“无法打开文件夹”或“权限不足”，导致无法正常查看或编辑对方日程。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461000" y="2984500"/>
            <a:ext cx="6096000" cy="1460500"/>
          </a:xfrm>
          <a:prstGeom prst="roundRect">
            <a:avLst>
              <a:gd name="adj" fmla="val 0"/>
            </a:avLst>
          </a:prstGeom>
          <a:solidFill>
            <a:srgbClr val="F3F4F6">
              <a:alpha val="60000"/>
            </a:srgbClr>
          </a:solidFill>
          <a:ln w="12700" cmpd="sng" cap="flat">
            <a:solidFill>
              <a:srgbClr val="D1D5DB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651500" y="3111500"/>
            <a:ext cx="5715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02 核心诱因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权限缺失：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日历所有者未授予“编辑”或“审阅”等必要权限。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缓存异常：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本地OST文件数据与服务器不同步，导致识别失败。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路径错误：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未通过标准SMTP邮箱地址添加共享日历。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461000" y="4572000"/>
            <a:ext cx="6096000" cy="1587500"/>
          </a:xfrm>
          <a:prstGeom prst="roundRect">
            <a:avLst>
              <a:gd name="adj" fmla="val 0"/>
            </a:avLst>
          </a:prstGeom>
          <a:solidFill>
            <a:srgbClr val="DCFCE7">
              <a:alpha val="60000"/>
            </a:srgbClr>
          </a:solidFill>
          <a:ln w="12700" cmpd="sng" cap="flat">
            <a:solidFill>
              <a:srgbClr val="86EFAC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651500" y="4699000"/>
            <a:ext cx="5715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03 解决方案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1. 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确认权限：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请所有者在日历属性中重新分配权限。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2. 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规范添加：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使用对方完整邮箱地址重新添加日历。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3. 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修复缓存：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关闭Outlook后，删除或重建本地OST文件。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日历与会议问题 (3/3)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1905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 问题现象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14323" flipH="false" flipV="false">
            <a:off x="952513" y="2406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952500" y="2603500"/>
            <a:ext cx="3048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查看同事日历忙闲状态时，状态频繁显示为“未知”，或与对方实际日程安排严重不符。这导致无法准确判断对方是否处于可沟通或会议状态，直接影响跨部门协作与日程安排的效率。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381500" y="1651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572000" y="1905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 可能原因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14323" flipH="false" flipV="false">
            <a:off x="4572013" y="2406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4572000" y="2603500"/>
            <a:ext cx="3048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隐私设置：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对方将日程标记为“私有”，仅显示占用状态不展示详情。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同步延迟：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本地客户端缓存未及时拉取服务器最新数据。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权限缺失：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未被授予查看对方忙闲状态的访问权限。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001000" y="1651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91500" y="1905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03 解决方案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14323" flipH="false" flipV="false">
            <a:off x="8191513" y="2406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8191500" y="2603500"/>
            <a:ext cx="3048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1. 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权限核查：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请对方确认日历共享权限中开启“允许查看忙/闲”。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2. 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强制同步：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在“发送/接收”选项卡执行“更新文件夹”。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3. 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端侧验证：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通过OWA网页端查看，排查本地客户端故障。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5461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5689600"/>
            <a:ext cx="304800" cy="3048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1397000" y="5651500"/>
            <a:ext cx="990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专家提示：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若上述操作均无效，建议联系IT部门检查Exchange服务器的日历服务状态，或确认对方邮箱账号是否存在同步异常。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搜索功能问题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762000" y="1778000"/>
            <a:ext cx="2794000" cy="2794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4699000"/>
            <a:ext cx="2794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高效的邮件检索是办公效率的基石。若出现搜索结果不准确或无法搜索的情况，通常与系统底层的索引服务状态密切相关。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064000" y="1778000"/>
            <a:ext cx="7366000" cy="1206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064000" y="1778000"/>
            <a:ext cx="50800" cy="1206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254500" y="1879600"/>
            <a:ext cx="7048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核心症结：系统索引服务依赖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Outlook的搜索功能并非独立运行，而是完全依赖Windows系统的搜索索引服务。一旦索引数据库损坏、数据文件路径未被包含或索引正在后台重建，都会直接导致搜索功能失效。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064000" y="3175000"/>
            <a:ext cx="2362200" cy="1460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165600" y="3276600"/>
            <a:ext cx="2159000" cy="1333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 索引数据库损坏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系统级的搜索索引文件因异常断电或软件冲突导致损坏，无法正常读取索引信息。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553200" y="3175000"/>
            <a:ext cx="2362200" cy="1460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654800" y="3276600"/>
            <a:ext cx="2159000" cy="1333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 数据文件未纳入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Outlook的OST或PST文件所在的磁盘分区，未被Windows索引服务列入扫描范围。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042400" y="3175000"/>
            <a:ext cx="2362200" cy="1460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9144000" y="3276600"/>
            <a:ext cx="2159000" cy="1333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03 后台重建索引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近期进行了大量邮件操作（如批量导入或删除），系统正在后台自动重建索引库。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064000" y="4889500"/>
            <a:ext cx="3619500" cy="1460500"/>
          </a:xfrm>
          <a:prstGeom prst="roundRect">
            <a:avLst>
              <a:gd name="adj" fmla="val 0"/>
            </a:avLst>
          </a:prstGeom>
          <a:solidFill>
            <a:srgbClr val="22C55E">
              <a:alpha val="5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165600" y="4991100"/>
            <a:ext cx="3429000" cy="1333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解决方案 A：手动重建索引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路径：控制面板 → 索引选项 → 高级 → 点击“重建”。此过程耗时较长（视邮件数量而定），建议在空闲时段执行。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810500" y="4889500"/>
            <a:ext cx="3619500" cy="1460500"/>
          </a:xfrm>
          <a:prstGeom prst="roundRect">
            <a:avLst>
              <a:gd name="adj" fmla="val 0"/>
            </a:avLst>
          </a:prstGeom>
          <a:solidFill>
            <a:srgbClr val="22C55E">
              <a:alpha val="5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912100" y="4991100"/>
            <a:ext cx="3429000" cy="1333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解决方案 B：检查索引范围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在“索引选项”中确认已勾选“Microsoft Outlook”，并检查“排除位置”列表，确保数据文件所在磁盘未被排除。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账号与配置问题 (1/2)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1105" b="1105"/>
          <a:stretch>
            <a:fillRect/>
          </a:stretch>
        </p:blipFill>
        <p:spPr>
          <a:xfrm rot="0" flipH="false" flipV="false">
            <a:off x="762000" y="1778000"/>
            <a:ext cx="2794000" cy="2794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4889500"/>
            <a:ext cx="2794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系统配置优化与故障排查是解决 Outlook 性能瓶颈的关键。通过针对性的诊断与修复，可有效恢复软件稳定性。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937000" y="1778000"/>
            <a:ext cx="7620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127500" y="1905000"/>
            <a:ext cx="7239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 问题现象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Outlook启动耗时过长，加载界面停滞；使用过程中频繁出现“无响应”弹窗，甚至直接崩溃闪退，严重干扰日常邮件处理与日程管理。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937000" y="3175000"/>
            <a:ext cx="7620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127500" y="3302000"/>
            <a:ext cx="7239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 核心诱因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第三方加载项（如插件、转换器）冲突或占用过高资源；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OST数据文件过大（&gt;50GB）或损坏，导致读写效率低下；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软件配置文件（Profile）损坏，引发初始化异常。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937000" y="4635500"/>
            <a:ext cx="7620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127500" y="4762500"/>
            <a:ext cx="7239000" cy="1333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03 快速修复方案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1. 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安全模式排查：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按下Win+R输入“outlook /safe”启动，若恢复正常则逐一禁用加载项定位问题；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2. 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重建OST文件：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关闭软件后删除旧OST文件，重启后系统自动重建；定期归档邮件以减少文件体积。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账号与配置问题 (2/2)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10668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7272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651000" y="1549400"/>
            <a:ext cx="965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问题现象：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Outlook启动或执行发送/接收操作时，频繁弹出登录窗口，即便输入正确密码也无法保存，导致无法正常收发邮件，严重影响办公效率。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730500"/>
            <a:ext cx="5207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29210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 可能原因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9291" flipH="false" flipV="false">
            <a:off x="1016009" y="3359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556000"/>
            <a:ext cx="254000" cy="254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397000" y="3530600"/>
            <a:ext cx="4445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凭据缓存损坏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Windows凭据管理器中存储的Outlook登录信息文件损坏或失效，导致系统无法识别有效凭证。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381500"/>
            <a:ext cx="254000" cy="254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397000" y="4356100"/>
            <a:ext cx="4445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代理服务器拦截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公司网络的防火墙或代理服务器策略阻止了客户端的身份验证请求，导致验证流程中断。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5207000"/>
            <a:ext cx="254000" cy="2540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397000" y="5181600"/>
            <a:ext cx="4445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账户配置错误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邮件服务器地址、端口号或加密方式（如SSL/TLS）配置不匹配，导致身份验证失败。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23000" y="2730500"/>
            <a:ext cx="5207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477000" y="29210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 解决方案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9291" flipH="false" flipV="false">
            <a:off x="6477009" y="3359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9" id="19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477000" y="3556000"/>
            <a:ext cx="254000" cy="2540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6858000" y="3530600"/>
            <a:ext cx="4445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清除旧凭据并重置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打开“控制面板 &gt; 凭据管理器”，删除所有与邮箱账户相关的Windows凭据条目，重启Outlook后重新输入密码验证。</a:t>
            </a:r>
            <a:endParaRPr lang="en-US" sz="1100"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6477000" y="4381500"/>
            <a:ext cx="254000" cy="2540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6858000" y="4356100"/>
            <a:ext cx="4445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检查网络代理设置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确认浏览器和系统的代理配置是否正确，尝试关闭代理或切换至手机热点等其他网络环境测试。</a:t>
            </a:r>
            <a:endParaRPr lang="en-US" sz="1100"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 flipH="false" flipV="false">
            <a:off x="6477000" y="5207000"/>
            <a:ext cx="254000" cy="2540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6858000" y="5181600"/>
            <a:ext cx="4445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核对账户配置信息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联系IT部门确认邮箱账户类型（Exchange/IMAP/POP）及对应的服务器地址、端口号和加密方式。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数据文件（PST/OST）问题 (1/2)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102" r="102" t="0" b="0"/>
          <a:stretch>
            <a:fillRect/>
          </a:stretch>
        </p:blipFill>
        <p:spPr>
          <a:xfrm rot="0" flipH="false" flipV="false">
            <a:off x="762000" y="1524000"/>
            <a:ext cx="2286000" cy="2159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3937000"/>
            <a:ext cx="3556000" cy="1270000"/>
          </a:xfrm>
          <a:prstGeom prst="roundRect">
            <a:avLst>
              <a:gd name="adj" fmla="val 0"/>
            </a:avLst>
          </a:prstGeom>
          <a:solidFill>
            <a:srgbClr val="F0FDF4">
              <a:alpha val="85000"/>
            </a:srgbClr>
          </a:solidFill>
          <a:ln w="12700" cmpd="sng" cap="flat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4064000"/>
            <a:ext cx="3302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OST (脱机存储表)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与Exchange账户绑定，用于本地缓存服务器数据，由Outlook自动同步与管理，支持离线访问。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5270500"/>
            <a:ext cx="3556000" cy="1270000"/>
          </a:xfrm>
          <a:prstGeom prst="roundRect">
            <a:avLst>
              <a:gd name="adj" fmla="val 0"/>
            </a:avLst>
          </a:prstGeom>
          <a:solidFill>
            <a:srgbClr val="F0FDF4">
              <a:alpha val="85000"/>
            </a:srgbClr>
          </a:solidFill>
          <a:ln w="12700" cmpd="sng" cap="flat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89000" y="5397500"/>
            <a:ext cx="3302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PST (个人存储表)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多用于POP3账户或邮件归档，完全由用户手动管理，独立于服务器，存在严格的文件大小限制。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699000" y="1524000"/>
            <a:ext cx="685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01. 核心痛点：PST文件过大导致损坏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699000" y="2032000"/>
            <a:ext cx="6858000" cy="952500"/>
          </a:xfrm>
          <a:prstGeom prst="roundRect">
            <a:avLst>
              <a:gd name="adj" fmla="val 0"/>
            </a:avLst>
          </a:prstGeom>
          <a:solidFill>
            <a:srgbClr val="FEF2F2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889500" y="2159000"/>
            <a:ext cx="6604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PST文件存在硬性容量上限：ANSI格式上限为 </a:t>
            </a:r>
            <a:r>
              <a:rPr lang="en-US" b="true" i="false" strike="noStrike" u="none" sz="1400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2GB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，Unicode格式上限为 </a:t>
            </a:r>
            <a:r>
              <a:rPr lang="en-US" b="true" i="false" strike="noStrike" u="none" sz="1400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50GB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。一旦超出限制，文件极易出现结构性损坏，导致无法打开或数据丢失。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699000" y="3238500"/>
            <a:ext cx="685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02. 三大解决方案与优化策略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699000" y="3810000"/>
            <a:ext cx="6858000" cy="825500"/>
          </a:xfrm>
          <a:prstGeom prst="roundRect">
            <a:avLst>
              <a:gd name="adj" fmla="val 0"/>
            </a:avLst>
          </a:prstGeom>
          <a:solidFill>
            <a:srgbClr val="F0FDF4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889500" y="4038600"/>
            <a:ext cx="355600" cy="3556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5397500" y="3911600"/>
            <a:ext cx="609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方案一：立即压缩清理冗余空间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右键点击PST文件 → 属性 → 高级 → 点击“立即压缩”，可有效释放被删除邮件占用的磁盘空间。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699000" y="4699000"/>
            <a:ext cx="6858000" cy="825500"/>
          </a:xfrm>
          <a:prstGeom prst="roundRect">
            <a:avLst>
              <a:gd name="adj" fmla="val 0"/>
            </a:avLst>
          </a:prstGeom>
          <a:solidFill>
            <a:srgbClr val="F0FDF4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4889500" y="4927600"/>
            <a:ext cx="355600" cy="3556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5397500" y="4800600"/>
            <a:ext cx="609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方案二：手动拆分或工具分割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将历史邮件手动移动到新建的PST文件中，或使用专业工具将超大PST文件拆分为多个独立小文件。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699000" y="5588000"/>
            <a:ext cx="6858000" cy="825500"/>
          </a:xfrm>
          <a:prstGeom prst="roundRect">
            <a:avLst>
              <a:gd name="adj" fmla="val 0"/>
            </a:avLst>
          </a:prstGeom>
          <a:solidFill>
            <a:srgbClr val="F0FDF4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4889500" y="5816600"/>
            <a:ext cx="355600" cy="3556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5397500" y="5689600"/>
            <a:ext cx="609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方案三：启用自动存档（推荐）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配置Outlook自动存档策略，定期将旧邮件自动移动到归档文件，从源头避免PST文件无限膨胀。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数据文件（PST/OST）问题 (2/2)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207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905000"/>
            <a:ext cx="469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 问题成因：OST文件损坏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9291" flipH="false" flipV="false">
            <a:off x="1016009" y="2533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9210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460500" y="2895600"/>
            <a:ext cx="4318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程序异常中断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Outlook意外关闭（如突然断电、强制结束进程或系统崩溃），导致文件写入不完整，破坏文件结构。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43180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460500" y="4292600"/>
            <a:ext cx="4318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存储介质故障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磁盘出现坏道、文件系统损坏或存储设备连接不稳定，直接导致OST文件数据块丢失或损坏。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23000" y="1651000"/>
            <a:ext cx="5207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477000" y="1905000"/>
            <a:ext cx="469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 解决方案：修复与重建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9291" flipH="false" flipV="false">
            <a:off x="6477009" y="2533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477000" y="2921000"/>
            <a:ext cx="304800" cy="3048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6921500" y="2895600"/>
            <a:ext cx="4445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官方工具 Scanpst.exe 修复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使用微软官方的Inbox Repair Tool扫描并修复文件逻辑错误。在系统中搜索该程序，按向导选择受损文件即可自动修复。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477000" y="4318000"/>
            <a:ext cx="304800" cy="3048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6921500" y="4292600"/>
            <a:ext cx="4445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重建OST文件（终极方案）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若修复无效，需删除旧配置文件并重新创建，Outlook将从服务器重新同步所有数据。注意：此过程耗时取决于数据量大小。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快速诊断黄金法则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10668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核心方法：通过登录OWA网页版进行对比，绕过本地客户端的复杂性，这是定位Outlook问题根源最快捷、最有效的方式，能帮助我们迅速缩小排查范围。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413000"/>
            <a:ext cx="5207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2603500"/>
            <a:ext cx="4826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情况 A：OWA正常，桌面端异常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9046" flipH="false" flipV="false">
            <a:off x="952508" y="3105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952500" y="32385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结论：问题根源在本地客户端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52500" y="3746500"/>
            <a:ext cx="4826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1. 尝试启动Outlook安全模式，排除插件干扰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2. 重建OST数据文件，修复本地缓存损坏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3. 重置Windows搜索索引，解决检索异常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4. 检查并禁用第三方可疑加载项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2413000"/>
            <a:ext cx="5207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413500" y="2603500"/>
            <a:ext cx="4826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情况 B：OWA也出现同样问题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9046" flipH="false" flipV="false">
            <a:off x="6413508" y="3105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6413500" y="32385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结论：问题根源在服务器端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413500" y="3746500"/>
            <a:ext cx="4826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1. 立即联系IT部门，同步具体报错信息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2. 检查邮箱存储配额是否已满导致拒收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3. 核实账户状态、权限及后台配置变更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4. 确认服务器端服务是否正常运行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57785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89000" y="5905500"/>
            <a:ext cx="1041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💡 黄金法则总结：</a:t>
            </a:r>
            <a:r>
              <a:rPr lang="en-US" b="false" i="false" strike="noStrike" u="none" sz="14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先查OWA定乾坤，快速区分“本地问题”与“服务器问题”，避免无效排查，提升解决效率。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0" y="5080000"/>
            <a:ext cx="2540000" cy="2540000"/>
          </a:xfrm>
          <a:prstGeom prst="ellipse">
            <a:avLst/>
          </a:prstGeom>
          <a:solidFill>
            <a:srgbClr val="22C55E">
              <a:alpha val="15000"/>
            </a:srgbClr>
          </a:solidFill>
          <a:ln cmpd="sng" cap="flat">
            <a:solidFill>
              <a:srgbClr val="0CAC47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795000" y="5715000"/>
            <a:ext cx="1524000" cy="1524000"/>
          </a:xfrm>
          <a:prstGeom prst="ellipse">
            <a:avLst/>
          </a:prstGeom>
          <a:solidFill>
            <a:srgbClr val="22C55E">
              <a:alpha val="20000"/>
            </a:srgbClr>
          </a:solidFill>
          <a:ln cmpd="sng" cap="flat">
            <a:solidFill>
              <a:srgbClr val="0CAC47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540000"/>
            <a:ext cx="1016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Q&amp;A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3937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感谢聆听！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4953000"/>
            <a:ext cx="9525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8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如有其他问题，请随时联系 IT 支持部门，我们将为您提供专业、及时的技术支持与解答。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658A409FEE6644C9F49EF08BD6600A1" ma:contentTypeVersion="8" ma:contentTypeDescription="Create a new document." ma:contentTypeScope="" ma:versionID="5c5738ae90f12becf0416d4549f1c16e">
  <xsd:schema xmlns:xsd="http://www.w3.org/2001/XMLSchema" xmlns:xs="http://www.w3.org/2001/XMLSchema" xmlns:p="http://schemas.microsoft.com/office/2006/metadata/properties" xmlns:ns2="855c19bd-d225-4736-982b-91be3757d23b" targetNamespace="http://schemas.microsoft.com/office/2006/metadata/properties" ma:root="true" ma:fieldsID="fc23c1225f8a4f7a1020dbe33de21d8f" ns2:_="">
    <xsd:import namespace="855c19bd-d225-4736-982b-91be3757d23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5c19bd-d225-4736-982b-91be3757d23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DF9DF58-6D65-41AC-A3C6-674DDDC1EBCE}"/>
</file>

<file path=customXml/itemProps2.xml><?xml version="1.0" encoding="utf-8"?>
<ds:datastoreItem xmlns:ds="http://schemas.openxmlformats.org/officeDocument/2006/customXml" ds:itemID="{22504CCE-099F-45F9-A883-3054EB17D43B}"/>
</file>

<file path=customXml/itemProps3.xml><?xml version="1.0" encoding="utf-8"?>
<ds:datastoreItem xmlns:ds="http://schemas.openxmlformats.org/officeDocument/2006/customXml" ds:itemID="{79A6EC1C-D21C-4FF9-89F8-397D2C4D47FD}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{"Label":"1","ContentProducer":"001191110102MACQD9K64010000","ProduceID":"7685582617148755135","ReservedCode1":"","ContentPropagator":"","PropagateID":"","ReservedCode2":""}</vt:lpwstr>
  </property>
  <property fmtid="{D5CDD505-2E9C-101B-9397-08002B2CF9AE}" pid="3" name="ContentTypeId">
    <vt:lpwstr>0x0101005658A409FEE6644C9F49EF08BD6600A1</vt:lpwstr>
  </property>
</Properties>
</file>