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4"/>
    <p:sldMasterId id="2147483660" r:id="rId5"/>
  </p:sldMasterIdLst>
  <p:notesMasterIdLst>
    <p:notesMasterId r:id="rId2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21B101-82D3-4AEE-B33E-2F09B1E80ACB}" v="1" dt="2026-06-24T09:46:02.1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llan Zhang" userId="23c4fe0f-c2f3-4f83-bb70-6c6cab73c5be" providerId="ADAL" clId="{327516EC-8C24-4943-86BA-6EBE4AB9787B}"/>
    <pc:docChg chg="custSel modSld">
      <pc:chgData name="Bollan Zhang" userId="23c4fe0f-c2f3-4f83-bb70-6c6cab73c5be" providerId="ADAL" clId="{327516EC-8C24-4943-86BA-6EBE4AB9787B}" dt="2026-06-24T09:54:38.176" v="11" actId="1076"/>
      <pc:docMkLst>
        <pc:docMk/>
      </pc:docMkLst>
      <pc:sldChg chg="addSp delSp modSp mod">
        <pc:chgData name="Bollan Zhang" userId="23c4fe0f-c2f3-4f83-bb70-6c6cab73c5be" providerId="ADAL" clId="{327516EC-8C24-4943-86BA-6EBE4AB9787B}" dt="2026-06-24T09:54:38.176" v="11" actId="1076"/>
        <pc:sldMkLst>
          <pc:docMk/>
          <pc:sldMk cId="0" sldId="272"/>
        </pc:sldMkLst>
        <pc:spChg chg="mod">
          <ac:chgData name="Bollan Zhang" userId="23c4fe0f-c2f3-4f83-bb70-6c6cab73c5be" providerId="ADAL" clId="{327516EC-8C24-4943-86BA-6EBE4AB9787B}" dt="2026-06-24T09:46:02.139" v="4"/>
          <ac:spMkLst>
            <pc:docMk/>
            <pc:sldMk cId="0" sldId="272"/>
            <ac:spMk id="8" creationId="{00000000-0000-0000-0000-000000000000}"/>
          </ac:spMkLst>
        </pc:spChg>
        <pc:picChg chg="del">
          <ac:chgData name="Bollan Zhang" userId="23c4fe0f-c2f3-4f83-bb70-6c6cab73c5be" providerId="ADAL" clId="{327516EC-8C24-4943-86BA-6EBE4AB9787B}" dt="2026-06-24T09:49:44.415" v="5" actId="478"/>
          <ac:picMkLst>
            <pc:docMk/>
            <pc:sldMk cId="0" sldId="272"/>
            <ac:picMk id="15" creationId="{00000000-0000-0000-0000-000000000000}"/>
          </ac:picMkLst>
        </pc:picChg>
        <pc:picChg chg="add mod">
          <ac:chgData name="Bollan Zhang" userId="23c4fe0f-c2f3-4f83-bb70-6c6cab73c5be" providerId="ADAL" clId="{327516EC-8C24-4943-86BA-6EBE4AB9787B}" dt="2026-06-24T09:54:38.176" v="11" actId="1076"/>
          <ac:picMkLst>
            <pc:docMk/>
            <pc:sldMk cId="0" sldId="272"/>
            <ac:picMk id="20" creationId="{40BE431A-C2BC-B536-B62F-705BCC94ECC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24.06.2026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参加本次Jula控股公司的IT政策培训。今天，我们将共同学习公司最新的IT使用规范和安全准则。这份政策旨在为大家提供一个清晰的框架，确保我们在享受便捷IT服务的同时，能够共同维护公司信息资产的安全和业务的稳定运行。让我们开始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培训将分为六个部分。首先，我们将了解政策的整体框架和核心目标。接着，会详细讲解设备、软件、账户安全、数据通信和信息管理的具体规范。最后，我们会进行总结并说明相关的培训要求。希望通过这个结构，大家能系统地掌握所有关键信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现在我们进入第一部分：政策概述与核心目标。在这一章，我们将明确本政策制定的基础和核心原则，并了解它旨在实现的四个关键目标，这些目标是我们所有IT行为的出发点和最终归宿。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IT政策有四个核心目标。首先是保护业务运营，确保IT系统始终稳定可靠。其次是守护商业秘密，防止核心数据泄露。第三是维护公司的品牌声誉，避免因IT安全问题造成负面影响。最后，也是非常重要的一点，是保障个人隐私，严格遵守相关法律法规。这四个目标相辅相成，共同构成了我们信息安全的基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接下来，我们进入第二部分，详细了解设备与软件的使用规范。这部分内容与我们日常工作息息相关，涵盖了从设备操作、网络连接到软件安装和外部存储使用的方方面面。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设备操作方面，请大家务必记住，离开座位时一定要锁定电脑，最简单的方法就是按下Windows键加L。同时，请为您的手机设置复杂的密码而非简单的PIN。在网络连接上，请注意，您的私人设备只能连接访客网络，以确保公司内部网络的安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关于软件使用，请记住，公司电脑是工作工具，严禁安装任何游戏或未经授权的软件。对于外部存储，我们有严格的规定：禁止使用个人U盘或移动硬盘。这是为了防止恶意软件的传播和数据泄露。如果您有存储需求，请联系IT部门，我们会提供安全的解决方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现在我们进入第三部分，这是信息安全中至关重要的一环——账户安全与密码管理。您的账户是您在公司数字世界中的身份标识，保护好它，就是保护公司的第一道防线。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密码是账户安全的核心。请大家务必遵守以下规则：密码要妥善保管，每年至少更换一次，并且公司密码和个人密码不能相同。一个强密码至少需要9位，包含大小写字母和数字或特殊符号。请不要使用与您个人信息相关的内容，也不要重复使用旧密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强密码，多因素认证（MFA）是另一道至关重要的安全防线。它要求您在输入密码后，再通过手机等设备进行二次验证。这大大增加了账户的安全性。请所有员工务必完成MFA的注册和使用，这是公司的强制要求，也是保护您个人和公司信息安全的必要手段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第四部分，我们将探讨数据处理与通信规范。日常工作中的邮件、Teams聊天和互联网浏览，都可能成为安全风险的入口。了解并遵守这些规范，能有效防范数据泄露和网络攻击。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在使用电子邮件时，请记住它是工作工具。发送机密信息一定要加密。更重要的是，要时刻警惕网络钓鱼邮件。这些邮件通常伪装成官方通知，诱导您点击恶意链接或下载附件。如果收到可疑邮件，请不要点击任何内容，立即向IT部门报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Teams是我们日常协作的重要工具。但请注意，不要在Teams聊天中发送机密信息。会议开始前，养成检查参会人员的好习惯，防止无关人员进入。会议结束后，及时清理聊天记录中的敏感信息，确保信息安全。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第五部分，我们将讨论信息资产与文档管理。如何正确地存储、访问和处理公司的数字资产，是每个员工的重要职责。这不仅关系到效率，更关系到数据安全。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关于文档存储，请大家务必记住一个原则：不要将文件保存在本地电脑！所有工作文档都应存储在OneDrive或SharePoint上，这些位置会自动备份。打印文件后，请及时取走。对于机密文件，要使用安全打印功能。不再需要的纸质文件，一定要用碎纸机销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最后，我们来到第六部分，对今天的内容进行总结，并明确后续的培训要求。安全意识的培养是一个持续的过程，需要我们每个人的参与和努力。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确保大家都掌握了基本的安全知识，公司要求所有员工完成一个简短的在线安全培训课程。请大家务必抽出时间完成。最后，再次强调，信息安全不是某一个部门的事，而是我们每个人的责任。感谢大家的参与和配合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我的介绍到此结束，感谢大家的聆听。如果对IT政策有任何疑问，欢迎随时联系IT支持团队。谢谢！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jpe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jpeg"/><Relationship Id="rId5" Type="http://schemas.openxmlformats.org/officeDocument/2006/relationships/image" Target="../media/image3.svg"/><Relationship Id="rId4" Type="http://schemas.openxmlformats.org/officeDocument/2006/relationships/image" Target="../media/image1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jpe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2.jpeg"/><Relationship Id="rId7" Type="http://schemas.openxmlformats.org/officeDocument/2006/relationships/image" Target="../media/image2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svg"/><Relationship Id="rId5" Type="http://schemas.openxmlformats.org/officeDocument/2006/relationships/image" Target="../media/image3.svg"/><Relationship Id="rId4" Type="http://schemas.openxmlformats.org/officeDocument/2006/relationships/image" Target="../media/image22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eg"/><Relationship Id="rId3" Type="http://schemas.openxmlformats.org/officeDocument/2006/relationships/image" Target="../media/image2.jpeg"/><Relationship Id="rId7" Type="http://schemas.openxmlformats.org/officeDocument/2006/relationships/image" Target="../media/image2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svg"/><Relationship Id="rId5" Type="http://schemas.openxmlformats.org/officeDocument/2006/relationships/image" Target="../media/image26.jpeg"/><Relationship Id="rId4" Type="http://schemas.openxmlformats.org/officeDocument/2006/relationships/image" Target="../media/image25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svg"/><Relationship Id="rId5" Type="http://schemas.openxmlformats.org/officeDocument/2006/relationships/image" Target="../media/image30.svg"/><Relationship Id="rId4" Type="http://schemas.openxmlformats.org/officeDocument/2006/relationships/image" Target="../media/image3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2286000" y="-381000"/>
            <a:ext cx="7620000" cy="7620000"/>
          </a:xfrm>
          <a:prstGeom prst="ellipse">
            <a:avLst/>
          </a:prstGeom>
          <a:gradFill rotWithShape="1">
            <a:gsLst>
              <a:gs pos="0">
                <a:srgbClr val="10B981">
                  <a:alpha val="25000"/>
                </a:srgbClr>
              </a:gs>
              <a:gs pos="70000">
                <a:srgbClr val="10B98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2667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Jula公司IT政策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1016000" y="3683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2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员工行为准则与安全规范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508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目录 CONTENTS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080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76200" cy="1397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7145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651000" y="1739900"/>
            <a:ext cx="406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政策概述与核心目标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651000" y="21590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了解政策的基础、原则与关键目标，建立安全意识的顶层认知。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0" y="1524000"/>
            <a:ext cx="5080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350000" y="1524000"/>
            <a:ext cx="76200" cy="1397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604000" y="17145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239000" y="1739900"/>
            <a:ext cx="406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设备与软件使用规范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239000" y="21590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学习公司设备、网络、软件及外部存储的使用规则，规范日常操作行为。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3302000"/>
            <a:ext cx="5080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762000" y="3302000"/>
            <a:ext cx="76200" cy="1397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1016000" y="34925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651000" y="3517900"/>
            <a:ext cx="406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账户安全与密码管理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651000" y="39370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掌握账户责任、密码策略及多因素认证的重要性，筑牢系统访问防线。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350000" y="3302000"/>
            <a:ext cx="5080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350000" y="3302000"/>
            <a:ext cx="76200" cy="1397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604000" y="34925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239000" y="3517900"/>
            <a:ext cx="406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数据处理与通信规范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239000" y="39370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明确邮件、Teams及互联网的安全使用方法，保障数据传输与存储的安全。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5080000"/>
            <a:ext cx="5080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762000" y="5080000"/>
            <a:ext cx="76200" cy="1397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1016000" y="52705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1651000" y="5295900"/>
            <a:ext cx="406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信息资产与文档管理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1651000" y="57150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熟悉信息访问权限、文档存储及打印安全规范，防止敏感信息泄露。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350000" y="5080000"/>
            <a:ext cx="5080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6350000" y="5080000"/>
            <a:ext cx="76200" cy="1397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6604000" y="52705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7239000" y="5295900"/>
            <a:ext cx="406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总结与培训要求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7239000" y="57150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回顾安全要点并了解强制性安全培训要求，确保全员合规上岗。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4572000" y="1397000"/>
            <a:ext cx="3048000" cy="3048000"/>
          </a:xfrm>
          <a:prstGeom prst="ellipse">
            <a:avLst/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228600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3937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政策概述与核心目标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635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政策核心目标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1435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905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" y="19558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76400" y="19939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保护业务运营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" y="2603500"/>
            <a:ext cx="45339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确保IT系统的稳定、可靠，支持日常业务的连续性，为公司运营提供坚实的技术支撑，最大限度减少意外停机带来的损失。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86500" y="1651000"/>
            <a:ext cx="51435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905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91300" y="195580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200900" y="19939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守护商业秘密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591300" y="2603500"/>
            <a:ext cx="45339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采取严密的防护措施，防止公司的核心数据、知识产权和商业策略泄露，维护公司的核心竞争优势和经济利益。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191000"/>
            <a:ext cx="51435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905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6800" y="44958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676400" y="45339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维护品牌声誉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66800" y="5143500"/>
            <a:ext cx="45339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建立规范的IT行为准则，避免因安全事件或不当使用对公司品牌形象造成损害，保持公众对品牌的信任度和好感度。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86500" y="4191000"/>
            <a:ext cx="51435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905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91300" y="4495800"/>
            <a:ext cx="457200" cy="4572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200900" y="45339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保障个人隐私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591300" y="5143500"/>
            <a:ext cx="45339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严格遵守GDPR等数据保护法规，建立健全数据处理流程，妥善处理所有涉及员工、客户及合作伙伴的个人隐私数据。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2286000" y="1778000"/>
            <a:ext cx="7620000" cy="3302000"/>
          </a:xfrm>
          <a:prstGeom prst="roundRect">
            <a:avLst>
              <a:gd name="adj" fmla="val 6153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304800" dist="1524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2286000" y="2413000"/>
            <a:ext cx="762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72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286000" y="3556000"/>
            <a:ext cx="762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设备与软件使用规范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762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设备操作与网络安全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080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254000" dist="635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t="111" b="111"/>
          <a:stretch>
            <a:fillRect/>
          </a:stretch>
        </p:blipFill>
        <p:spPr>
          <a:xfrm>
            <a:off x="1778000" y="1905000"/>
            <a:ext cx="3048000" cy="2032000"/>
          </a:xfrm>
          <a:prstGeom prst="roundRect">
            <a:avLst>
              <a:gd name="adj" fmla="val 50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1016000" y="4191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设备安全操作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4699000"/>
            <a:ext cx="457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必须小心、安全地操作工作用计算机和移动设备。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设备在无人看管时必须始终锁定 (</a:t>
            </a:r>
            <a:r>
              <a:rPr lang="en-US" sz="13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Win + L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)。</a:t>
            </a: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强烈建议为手机设置强密码，而非简单的数字PIN。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6350000" y="1651000"/>
            <a:ext cx="5080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254000" dist="635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604000" y="1905000"/>
            <a:ext cx="4572000" cy="2032000"/>
          </a:xfrm>
          <a:prstGeom prst="roundRect">
            <a:avLst>
              <a:gd name="adj" fmla="val 500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382000" y="2413000"/>
            <a:ext cx="1016000" cy="101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6604000" y="4191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网络连接规则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604000" y="4699000"/>
            <a:ext cx="457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仅限经IT部门批准的设备连接公司内部核心网络。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私人手机和访客电脑必须连接到指定的访客网络：</a:t>
            </a:r>
          </a:p>
          <a:p>
            <a:pPr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访客网络名称：Jula_Asia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762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软件使用与外部存储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1435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blurRad="317500" dist="101600" dir="5400000" algn="tl" rotWithShape="0">
              <a:srgbClr val="10B98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143000" y="1905000"/>
            <a:ext cx="609600" cy="609600"/>
          </a:xfrm>
          <a:prstGeom prst="ellipse">
            <a:avLst/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95400" y="20574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905000" y="20193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软件使用与安装规范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964">
            <a:off x="1143009" y="2724150"/>
            <a:ext cx="438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143000" y="2984500"/>
            <a:ext cx="43815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公司设备的使用必须出于工作目的，严禁用于私人用途。</a:t>
            </a:r>
            <a:endParaRPr lang="en-US" sz="1100"/>
          </a:p>
          <a:p>
            <a:pPr indent="0" algn="l">
              <a:lnSpc>
                <a:spcPct val="133333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4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严禁安装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游戏或其他未经IT部门授权的私人应用程序。</a:t>
            </a:r>
          </a:p>
          <a:p>
            <a:pPr indent="0" algn="l">
              <a:lnSpc>
                <a:spcPct val="133333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如需额外应用，请通过正规渠道向IT支持团队提交申请。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286500" y="1524000"/>
            <a:ext cx="51435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blurRad="317500" dist="101600" dir="5400000" algn="tl" rotWithShape="0">
              <a:srgbClr val="10B98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667500" y="1905000"/>
            <a:ext cx="609600" cy="609600"/>
          </a:xfrm>
          <a:prstGeom prst="ellipse">
            <a:avLst/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19900" y="20574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429500" y="20193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外部存储设备管理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964">
            <a:off x="6667509" y="2724150"/>
            <a:ext cx="438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667500" y="2984500"/>
            <a:ext cx="2413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4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严禁使用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个人U盘和外部硬盘，防止数据泄露。</a:t>
            </a:r>
            <a:endParaRPr lang="en-US" sz="1100"/>
          </a:p>
          <a:p>
            <a:pPr indent="0" algn="l">
              <a:lnSpc>
                <a:spcPct val="133333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如需外部存储，请联系IT支持团队获取安全合规的解决方案。</a:t>
            </a:r>
          </a:p>
          <a:p>
            <a:pPr indent="0" algn="l">
              <a:lnSpc>
                <a:spcPct val="133333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发现未知USB设备，切勿擅自插入，应立即上交IT部门处理。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271000" y="3492500"/>
            <a:ext cx="1905000" cy="1905000"/>
          </a:xfrm>
          <a:prstGeom prst="roundRect">
            <a:avLst>
              <a:gd name="adj" fmla="val 8000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FFFFFF">
                  <a:alpha val="10000"/>
                </a:srgbClr>
              </a:gs>
              <a:gs pos="100000">
                <a:srgbClr val="FFFFFF">
                  <a:alpha val="4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3556000" y="1778000"/>
            <a:ext cx="5080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0" b="1" i="0" u="none" strike="noStrike">
                <a:solidFill>
                  <a:srgbClr val="10B981">
                    <a:alpha val="1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4191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 spc="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PART 03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46355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账户安全与密码管理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密码管理规则与强密码要求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588000" cy="4826000"/>
          </a:xfrm>
          <a:prstGeom prst="roundRect">
            <a:avLst>
              <a:gd name="adj" fmla="val 315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254000" dist="635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" y="18288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73200" y="17907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密码管理规则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" y="2286000"/>
            <a:ext cx="49784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妥善保管：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密码是个人责任，不得透露，不得记录在计算机附近。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定期更换：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密码必须至少每年更改一次。</a:t>
            </a:r>
          </a:p>
          <a:p>
            <a:pPr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密码唯一性：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公司账户和个人账户密码不能相同。</a:t>
            </a:r>
          </a:p>
          <a:p>
            <a:pPr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泄露处理：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怀疑密码泄露，必须立即更改并报告IT。</a:t>
            </a:r>
          </a:p>
        </p:txBody>
      </p:sp>
      <p:cxnSp>
        <p:nvCxnSpPr>
          <p:cNvPr id="8" name="Connector 8"/>
          <p:cNvCxnSpPr/>
          <p:nvPr/>
        </p:nvCxnSpPr>
        <p:spPr>
          <a:xfrm rot="-8769">
            <a:off x="1066808" y="4057650"/>
            <a:ext cx="4978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800" y="43688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473200" y="43307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强密码最低要求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66800" y="4826000"/>
            <a:ext cx="49784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长度：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至少9个字符。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复杂性：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至少包含一个大写字母、一个小写字母，以及一个数字或特殊字符。</a:t>
            </a:r>
          </a:p>
          <a:p>
            <a:pPr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避免关联：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不得包含用户名或姓名。</a:t>
            </a:r>
          </a:p>
          <a:p>
            <a:pPr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历史记录：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不得使用最近五次使用过的旧密码。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604000" y="1524000"/>
            <a:ext cx="4826000" cy="4826000"/>
          </a:xfrm>
          <a:prstGeom prst="roundRect">
            <a:avLst>
              <a:gd name="adj" fmla="val 3157"/>
            </a:avLst>
          </a:prstGeom>
          <a:solidFill>
            <a:srgbClr val="ECFDF5">
              <a:alpha val="10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9906000" y="1778000"/>
            <a:ext cx="1270000" cy="1270000"/>
          </a:xfrm>
          <a:prstGeom prst="ellipse">
            <a:avLst/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858000" y="5334000"/>
            <a:ext cx="762000" cy="762000"/>
          </a:xfrm>
          <a:prstGeom prst="ellipse">
            <a:avLst/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858000" y="2311400"/>
            <a:ext cx="4318000" cy="3238500"/>
          </a:xfrm>
          <a:prstGeom prst="roundRect">
            <a:avLst>
              <a:gd name="adj" fmla="val 4705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381000" dist="127000" dir="5400000" algn="tl" rotWithShape="0">
              <a:srgbClr val="10B981">
                <a:alpha val="15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7620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多因素认证 (MFA)：双重保护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588000" cy="4826000"/>
          </a:xfrm>
          <a:prstGeom prst="roundRect">
            <a:avLst>
              <a:gd name="adj" fmla="val 315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254000" dist="1016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" y="19050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74800" y="1879600"/>
            <a:ext cx="4699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什么是MFA？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143000" y="23368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多因素认证（MFA）为您的账户提供了双重保护。即使您的密码不慎泄露，没有第二重验证，攻击者也无法访问您的账户。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046">
            <a:off x="1143008" y="3295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3000" y="3556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574800" y="3530600"/>
            <a:ext cx="4699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如何工作？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143000" y="39878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当您远程登录时，除了输入密码，还需要通过短信、安全应用或电子邮件进行二次确认。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9046">
            <a:off x="1143008" y="4819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3000" y="50800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74800" y="5054600"/>
            <a:ext cx="4699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强制要求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143000" y="55118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所有员工都</a:t>
            </a:r>
            <a:r>
              <a:rPr lang="en-US" sz="14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必须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注册并使用MFA。这不仅是远程工作的要求，更是提升所有账户安全性的关键措施。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858000" y="1651000"/>
            <a:ext cx="4572000" cy="4572000"/>
          </a:xfrm>
          <a:prstGeom prst="ellipse">
            <a:avLst/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7112000" y="1905000"/>
            <a:ext cx="4064000" cy="4064000"/>
          </a:xfrm>
          <a:prstGeom prst="ellipse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381000" dist="127000" dir="5400000" algn="tl" rotWithShape="0">
              <a:srgbClr val="10B981">
                <a:alpha val="15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4572000" y="1270000"/>
            <a:ext cx="3048000" cy="3048000"/>
          </a:xfrm>
          <a:prstGeom prst="ellipse">
            <a:avLst/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2413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3810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数据处理与通信规范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762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电子邮件与网络钓鱼防范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4826000"/>
          </a:xfrm>
          <a:prstGeom prst="roundRect">
            <a:avLst>
              <a:gd name="adj" fmla="val 315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blurRad="254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" y="18288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73200" y="180340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电子邮件使用规范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" y="2286000"/>
            <a:ext cx="45974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公司邮箱是工作工具，避免私人通信。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机密信息必须使用Outlook加密功能发送。</a:t>
            </a: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及时归档重要信息至SharePoint，不要将邮箱当存储。</a:t>
            </a:r>
          </a:p>
        </p:txBody>
      </p:sp>
      <p:cxnSp>
        <p:nvCxnSpPr>
          <p:cNvPr id="8" name="Connector 8"/>
          <p:cNvCxnSpPr/>
          <p:nvPr/>
        </p:nvCxnSpPr>
        <p:spPr>
          <a:xfrm rot="-9496">
            <a:off x="1066809" y="3803650"/>
            <a:ext cx="4597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800" y="41148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473200" y="408940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防范网络钓鱼核心要点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66800" y="4572000"/>
            <a:ext cx="45974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警惕来自未知发件人的邮件、链接和附件。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网络钓鱼邮件旨在窃取您的登录凭据。</a:t>
            </a: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不确定时，请勿点击，直接向IT部门报告。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223000" y="1524000"/>
            <a:ext cx="5207000" cy="4826000"/>
          </a:xfrm>
          <a:prstGeom prst="roundRect">
            <a:avLst>
              <a:gd name="adj" fmla="val 315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blurRad="254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527800" y="1828800"/>
            <a:ext cx="4597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网络钓鱼邮件典型特征警示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rcRect t="3" b="3"/>
          <a:stretch>
            <a:fillRect/>
          </a:stretch>
        </p:blipFill>
        <p:spPr>
          <a:xfrm>
            <a:off x="6527800" y="2413000"/>
            <a:ext cx="4597400" cy="2628900"/>
          </a:xfrm>
          <a:prstGeom prst="roundRect">
            <a:avLst>
              <a:gd name="adj" fmla="val 3864"/>
            </a:avLst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6527800" y="5207000"/>
            <a:ext cx="4597400" cy="889000"/>
          </a:xfrm>
          <a:prstGeom prst="roundRect">
            <a:avLst>
              <a:gd name="adj" fmla="val 11428"/>
            </a:avLst>
          </a:prstGeom>
          <a:solidFill>
            <a:srgbClr val="FEF2F2">
              <a:alpha val="100000"/>
            </a:srgbClr>
          </a:solidFill>
          <a:ln w="12700" cap="flat" cmpd="sng">
            <a:solidFill>
              <a:srgbClr val="FECAC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31000" y="5384800"/>
            <a:ext cx="254000" cy="254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086600" y="5359400"/>
            <a:ext cx="3937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1" i="0" u="none" strike="noStrike">
                <a:solidFill>
                  <a:srgbClr val="B91C1C"/>
                </a:solidFill>
                <a:latin typeface="Noto Sans SC"/>
                <a:ea typeface="Noto Sans SC"/>
                <a:cs typeface="Noto Sans SC"/>
                <a:sym typeface="Noto Sans SC"/>
              </a:rPr>
              <a:t>安全警示：</a:t>
            </a:r>
            <a:r>
              <a:rPr lang="en-US" sz="1200" b="0" i="0" u="none" strike="noStrike">
                <a:solidFill>
                  <a:srgbClr val="7F1D1D"/>
                </a:solidFill>
                <a:latin typeface="Noto Sans SC"/>
                <a:ea typeface="Noto Sans SC"/>
                <a:cs typeface="Noto Sans SC"/>
                <a:sym typeface="Noto Sans SC"/>
              </a:rPr>
              <a:t>如图所示，可疑邮件通常会使用紧急口吻诱导操作，并附带可疑链接。请务必核对发件人信息与邮件内容的合理性。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762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数字会议与Teams使用规范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080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" y="17780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98600" y="17526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业务标准工具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" y="2209800"/>
            <a:ext cx="419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Microsoft Teams是公司数字会议的标准工具，所有内部会议应统一在此平台进行。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175000"/>
            <a:ext cx="5080000" cy="17145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800" y="3429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498600" y="34036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信息安全红线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66800" y="3860800"/>
            <a:ext cx="4470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禁止在聊天中发送机密或敏感个人数据。</a:t>
            </a:r>
            <a:b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任务完成后，及时删除聊天中的个人数据及附件。</a:t>
            </a:r>
            <a:b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Team负责人需定期核查频道访问权限。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5080000"/>
            <a:ext cx="5080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6800" y="53340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498600" y="53086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会议安全管理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66800" y="5765800"/>
            <a:ext cx="44704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会议应有明确议程，谨慎共享敏感信息。养成会前核对参会人员的习惯，防止不速之客干扰。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350000" y="1524000"/>
            <a:ext cx="5080000" cy="4953000"/>
          </a:xfrm>
          <a:prstGeom prst="roundRect">
            <a:avLst>
              <a:gd name="adj" fmla="val 3076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6477000" y="1651000"/>
            <a:ext cx="4826000" cy="2717800"/>
          </a:xfrm>
          <a:prstGeom prst="roundRect">
            <a:avLst>
              <a:gd name="adj" fmla="val 5607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254000" dist="101600" dir="27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18" name="AutoShape 18"/>
          <p:cNvSpPr/>
          <p:nvPr/>
        </p:nvSpPr>
        <p:spPr>
          <a:xfrm>
            <a:off x="6477000" y="4572000"/>
            <a:ext cx="4826000" cy="1727200"/>
          </a:xfrm>
          <a:prstGeom prst="roundRect">
            <a:avLst>
              <a:gd name="adj" fmla="val 882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31000" y="48260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264400" y="48768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安全协作，高效沟通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731000" y="53848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遵循数字会议规范，不仅是为了合规，更是为了保护公司资产与个人隐私，营造安全的数字化办公环境。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28600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810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信息资产与文档管理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文档存储与打印安全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4826000"/>
          </a:xfrm>
          <a:prstGeom prst="roundRect">
            <a:avLst>
              <a:gd name="adj" fmla="val 315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blurRad="254000" dist="635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" y="18288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18161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文档存储规范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496">
            <a:off x="1066809" y="2330450"/>
            <a:ext cx="4597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66800" y="2540000"/>
            <a:ext cx="45974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● 推荐位置：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文档必须保存在 OneDrive（个人）或 SharePoint（共享），确保云端同步。</a:t>
            </a:r>
            <a:endParaRPr lang="en-US" sz="1100"/>
          </a:p>
          <a:p>
            <a:pPr indent="0" algn="l">
              <a:lnSpc>
                <a:spcPct val="133333"/>
              </a:lnSpc>
            </a:pPr>
            <a:r>
              <a:rPr lang="en-US" sz="16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● 禁止本地存储：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严禁将文件仅保存在电脑桌面或本地硬盘，防止设备损坏导致数据丢失。</a:t>
            </a:r>
          </a:p>
          <a:p>
            <a:pPr indent="0" algn="l">
              <a:lnSpc>
                <a:spcPct val="133333"/>
              </a:lnSpc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● 离职前移交：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务必将公司相关文档完整转移至共享存储区域，做好交接工作。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1066800" y="4826000"/>
            <a:ext cx="4597400" cy="1270000"/>
          </a:xfrm>
          <a:prstGeom prst="roundRect">
            <a:avLst>
              <a:gd name="adj" fmla="val 800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rcRect t="272" b="272"/>
          <a:stretch>
            <a:fillRect/>
          </a:stretch>
        </p:blipFill>
        <p:spPr>
          <a:xfrm>
            <a:off x="2324100" y="4953000"/>
            <a:ext cx="2082800" cy="101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6223000" y="1524000"/>
            <a:ext cx="5207000" cy="4826000"/>
          </a:xfrm>
          <a:prstGeom prst="roundRect">
            <a:avLst>
              <a:gd name="adj" fmla="val 315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blurRad="254000" dist="635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27800" y="18288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985000" y="18161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打印与纸质文档安全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496">
            <a:off x="6527809" y="2330450"/>
            <a:ext cx="4597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527800" y="2540000"/>
            <a:ext cx="45974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● 及时取件：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打印任务完成后，请立即前往打印机取走文档，防止信息被他人误拿。</a:t>
            </a:r>
            <a:endParaRPr lang="en-US" sz="1100"/>
          </a:p>
          <a:p>
            <a:pPr indent="0" algn="l">
              <a:lnSpc>
                <a:spcPct val="133333"/>
              </a:lnSpc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● 安全打印：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打印机密或敏感信息时，务必启用“安全打印”功能，输入密码后再输出。</a:t>
            </a:r>
          </a:p>
          <a:p>
            <a:pPr indent="0" algn="l">
              <a:lnSpc>
                <a:spcPct val="133333"/>
              </a:lnSpc>
            </a:pPr>
            <a:r>
              <a:rPr lang="en-US" sz="16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● 安全销毁：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不再需要的纸质文档必须使用碎纸机进行粉碎处理，严禁随意丢弃。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527800" y="4826000"/>
            <a:ext cx="4597400" cy="1270000"/>
          </a:xfrm>
          <a:prstGeom prst="roundRect">
            <a:avLst>
              <a:gd name="adj" fmla="val 800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/>
          <a:srcRect l="1472" r="1472"/>
          <a:stretch>
            <a:fillRect/>
          </a:stretch>
        </p:blipFill>
        <p:spPr>
          <a:xfrm>
            <a:off x="7620000" y="4953000"/>
            <a:ext cx="1270000" cy="101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9017000" y="4953000"/>
            <a:ext cx="1016000" cy="101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2540000" y="1651000"/>
            <a:ext cx="7112000" cy="3556000"/>
          </a:xfrm>
          <a:prstGeom prst="roundRect">
            <a:avLst>
              <a:gd name="adj" fmla="val 4285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304800" dist="1524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2540000" y="2413000"/>
            <a:ext cx="711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72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540000" y="3683000"/>
            <a:ext cx="711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总结与培训要求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7620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强制性安全培训与结语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080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66800" y="1828800"/>
            <a:ext cx="508000" cy="508000"/>
          </a:xfrm>
          <a:prstGeom prst="ellipse">
            <a:avLst/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400" y="19304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27200" y="18923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强制性安全培训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66800" y="2413000"/>
            <a:ext cx="44704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25000"/>
              </a:lnSpc>
              <a:defRPr/>
            </a:pP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所有员工都必须完成强制性的安全培训课程（</a:t>
            </a:r>
            <a:r>
              <a:rPr lang="en-US" altLang="zh-CN" b="1" dirty="0" err="1"/>
              <a:t>Internet</a:t>
            </a:r>
            <a:r>
              <a:rPr lang="en-US" altLang="zh-CN" b="1" dirty="0"/>
              <a:t> Security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）。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旨在学习如何识别和管理通过电子邮件、远程工作等渠道可能遇到的安全风险，筑牢安全防线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762000" y="4191000"/>
            <a:ext cx="5080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066800" y="4495800"/>
            <a:ext cx="508000" cy="508000"/>
          </a:xfrm>
          <a:prstGeom prst="ellipse">
            <a:avLst/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8400" y="45974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727200" y="45593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结语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066800" y="5080000"/>
            <a:ext cx="4470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安全是每个人的责任。感谢您阅读并遵守本IT政策。您的合作对于保护公司和我们共同的利益至关重要。让我们携手共建安全的数字环境。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350000" y="1524000"/>
            <a:ext cx="5080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90500" dist="762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604000" y="4826000"/>
            <a:ext cx="4572000" cy="889000"/>
          </a:xfrm>
          <a:prstGeom prst="roundRect">
            <a:avLst>
              <a:gd name="adj" fmla="val 11428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58000" y="51181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289800" y="50165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全员必修 · 限时完成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请于本月内登录学习平台完成课程并通过考核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40BE431A-C2BC-B536-B62F-705BCC94EC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4000" y="1726832"/>
            <a:ext cx="4251285" cy="299756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0B981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2286000" y="2921000"/>
            <a:ext cx="762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Thank You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658A409FEE6644C9F49EF08BD6600A1" ma:contentTypeVersion="8" ma:contentTypeDescription="Create a new document." ma:contentTypeScope="" ma:versionID="5c5738ae90f12becf0416d4549f1c16e">
  <xsd:schema xmlns:xsd="http://www.w3.org/2001/XMLSchema" xmlns:xs="http://www.w3.org/2001/XMLSchema" xmlns:p="http://schemas.microsoft.com/office/2006/metadata/properties" xmlns:ns2="855c19bd-d225-4736-982b-91be3757d23b" targetNamespace="http://schemas.microsoft.com/office/2006/metadata/properties" ma:root="true" ma:fieldsID="fc23c1225f8a4f7a1020dbe33de21d8f" ns2:_="">
    <xsd:import namespace="855c19bd-d225-4736-982b-91be3757d23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5c19bd-d225-4736-982b-91be3757d23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AE7393C-B2AB-41DC-8DA2-961E585268B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1AC9DE58-07AF-48B9-B719-3433AADF02C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787643E-D98B-4A76-8FBB-D56B0CFFD914}"/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847</Words>
  <Application>Microsoft Office PowerPoint</Application>
  <PresentationFormat>宽屏</PresentationFormat>
  <Paragraphs>170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2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Bollan Zhang</cp:lastModifiedBy>
  <cp:revision>1</cp:revision>
  <dcterms:modified xsi:type="dcterms:W3CDTF">2026-06-24T09:54:38Z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0x0101005658A409FEE6644C9F49EF08BD6600A1</vt:lpwstr>
  </property>
</Properties>
</file>