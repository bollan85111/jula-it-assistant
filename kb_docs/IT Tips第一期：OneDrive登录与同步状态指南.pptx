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4"/>
    <p:sldMasterId id="2157483795" r:id="rId5"/>
  </p:sldMasterIdLst>
  <p:notesMasterIdLst>
    <p:notesMasterId r:id="rId24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ollan Zhang" userId="23c4fe0f-c2f3-4f83-bb70-6c6cab73c5be" providerId="ADAL" clId="{327516EC-8C24-4943-86BA-6EBE4AB9787B}"/>
    <pc:docChg chg="undo custSel modSld">
      <pc:chgData name="Bollan Zhang" userId="23c4fe0f-c2f3-4f83-bb70-6c6cab73c5be" providerId="ADAL" clId="{327516EC-8C24-4943-86BA-6EBE4AB9787B}" dt="2026-06-24T07:55:22.368" v="62" actId="1076"/>
      <pc:docMkLst>
        <pc:docMk/>
      </pc:docMkLst>
      <pc:sldChg chg="modSp mod">
        <pc:chgData name="Bollan Zhang" userId="23c4fe0f-c2f3-4f83-bb70-6c6cab73c5be" providerId="ADAL" clId="{327516EC-8C24-4943-86BA-6EBE4AB9787B}" dt="2026-06-23T02:50:47.553" v="46"/>
        <pc:sldMkLst>
          <pc:docMk/>
          <pc:sldMk cId="0" sldId="258"/>
        </pc:sldMkLst>
        <pc:spChg chg="mod">
          <ac:chgData name="Bollan Zhang" userId="23c4fe0f-c2f3-4f83-bb70-6c6cab73c5be" providerId="ADAL" clId="{327516EC-8C24-4943-86BA-6EBE4AB9787B}" dt="2026-06-23T02:39:54.313" v="16"/>
          <ac:spMkLst>
            <pc:docMk/>
            <pc:sldMk cId="0" sldId="258"/>
            <ac:spMk id="3" creationId="{00000000-0000-0000-0000-000000000000}"/>
          </ac:spMkLst>
        </pc:spChg>
        <pc:spChg chg="mod">
          <ac:chgData name="Bollan Zhang" userId="23c4fe0f-c2f3-4f83-bb70-6c6cab73c5be" providerId="ADAL" clId="{327516EC-8C24-4943-86BA-6EBE4AB9787B}" dt="2026-06-23T02:37:40.827" v="3"/>
          <ac:spMkLst>
            <pc:docMk/>
            <pc:sldMk cId="0" sldId="258"/>
            <ac:spMk id="4" creationId="{00000000-0000-0000-0000-000000000000}"/>
          </ac:spMkLst>
        </pc:spChg>
        <pc:spChg chg="mod">
          <ac:chgData name="Bollan Zhang" userId="23c4fe0f-c2f3-4f83-bb70-6c6cab73c5be" providerId="ADAL" clId="{327516EC-8C24-4943-86BA-6EBE4AB9787B}" dt="2026-06-23T02:39:53.989" v="15" actId="20577"/>
          <ac:spMkLst>
            <pc:docMk/>
            <pc:sldMk cId="0" sldId="258"/>
            <ac:spMk id="7" creationId="{00000000-0000-0000-0000-000000000000}"/>
          </ac:spMkLst>
        </pc:spChg>
        <pc:spChg chg="mod">
          <ac:chgData name="Bollan Zhang" userId="23c4fe0f-c2f3-4f83-bb70-6c6cab73c5be" providerId="ADAL" clId="{327516EC-8C24-4943-86BA-6EBE4AB9787B}" dt="2026-06-23T02:39:52.702" v="12"/>
          <ac:spMkLst>
            <pc:docMk/>
            <pc:sldMk cId="0" sldId="258"/>
            <ac:spMk id="9" creationId="{00000000-0000-0000-0000-000000000000}"/>
          </ac:spMkLst>
        </pc:spChg>
        <pc:spChg chg="mod">
          <ac:chgData name="Bollan Zhang" userId="23c4fe0f-c2f3-4f83-bb70-6c6cab73c5be" providerId="ADAL" clId="{327516EC-8C24-4943-86BA-6EBE4AB9787B}" dt="2026-06-23T02:42:23.898" v="24" actId="1076"/>
          <ac:spMkLst>
            <pc:docMk/>
            <pc:sldMk cId="0" sldId="258"/>
            <ac:spMk id="10" creationId="{00000000-0000-0000-0000-000000000000}"/>
          </ac:spMkLst>
        </pc:spChg>
        <pc:spChg chg="mod">
          <ac:chgData name="Bollan Zhang" userId="23c4fe0f-c2f3-4f83-bb70-6c6cab73c5be" providerId="ADAL" clId="{327516EC-8C24-4943-86BA-6EBE4AB9787B}" dt="2026-06-23T02:41:47.382" v="22" actId="20577"/>
          <ac:spMkLst>
            <pc:docMk/>
            <pc:sldMk cId="0" sldId="258"/>
            <ac:spMk id="13" creationId="{00000000-0000-0000-0000-000000000000}"/>
          </ac:spMkLst>
        </pc:spChg>
        <pc:spChg chg="mod">
          <ac:chgData name="Bollan Zhang" userId="23c4fe0f-c2f3-4f83-bb70-6c6cab73c5be" providerId="ADAL" clId="{327516EC-8C24-4943-86BA-6EBE4AB9787B}" dt="2026-06-23T02:48:47.694" v="30" actId="1076"/>
          <ac:spMkLst>
            <pc:docMk/>
            <pc:sldMk cId="0" sldId="258"/>
            <ac:spMk id="15" creationId="{00000000-0000-0000-0000-000000000000}"/>
          </ac:spMkLst>
        </pc:spChg>
        <pc:spChg chg="mod">
          <ac:chgData name="Bollan Zhang" userId="23c4fe0f-c2f3-4f83-bb70-6c6cab73c5be" providerId="ADAL" clId="{327516EC-8C24-4943-86BA-6EBE4AB9787B}" dt="2026-06-23T02:48:44.039" v="29"/>
          <ac:spMkLst>
            <pc:docMk/>
            <pc:sldMk cId="0" sldId="258"/>
            <ac:spMk id="21" creationId="{00000000-0000-0000-0000-000000000000}"/>
          </ac:spMkLst>
        </pc:spChg>
        <pc:spChg chg="mod">
          <ac:chgData name="Bollan Zhang" userId="23c4fe0f-c2f3-4f83-bb70-6c6cab73c5be" providerId="ADAL" clId="{327516EC-8C24-4943-86BA-6EBE4AB9787B}" dt="2026-06-23T02:50:47.553" v="46"/>
          <ac:spMkLst>
            <pc:docMk/>
            <pc:sldMk cId="0" sldId="258"/>
            <ac:spMk id="23" creationId="{00000000-0000-0000-0000-000000000000}"/>
          </ac:spMkLst>
        </pc:spChg>
      </pc:sldChg>
      <pc:sldChg chg="modSp mod">
        <pc:chgData name="Bollan Zhang" userId="23c4fe0f-c2f3-4f83-bb70-6c6cab73c5be" providerId="ADAL" clId="{327516EC-8C24-4943-86BA-6EBE4AB9787B}" dt="2026-06-23T02:53:45.112" v="48"/>
        <pc:sldMkLst>
          <pc:docMk/>
          <pc:sldMk cId="0" sldId="260"/>
        </pc:sldMkLst>
        <pc:spChg chg="mod">
          <ac:chgData name="Bollan Zhang" userId="23c4fe0f-c2f3-4f83-bb70-6c6cab73c5be" providerId="ADAL" clId="{327516EC-8C24-4943-86BA-6EBE4AB9787B}" dt="2026-06-23T02:53:45.112" v="48"/>
          <ac:spMkLst>
            <pc:docMk/>
            <pc:sldMk cId="0" sldId="260"/>
            <ac:spMk id="7" creationId="{00000000-0000-0000-0000-000000000000}"/>
          </ac:spMkLst>
        </pc:spChg>
      </pc:sldChg>
      <pc:sldChg chg="modSp mod">
        <pc:chgData name="Bollan Zhang" userId="23c4fe0f-c2f3-4f83-bb70-6c6cab73c5be" providerId="ADAL" clId="{327516EC-8C24-4943-86BA-6EBE4AB9787B}" dt="2026-06-23T04:26:00.469" v="60"/>
        <pc:sldMkLst>
          <pc:docMk/>
          <pc:sldMk cId="0" sldId="265"/>
        </pc:sldMkLst>
        <pc:spChg chg="mod">
          <ac:chgData name="Bollan Zhang" userId="23c4fe0f-c2f3-4f83-bb70-6c6cab73c5be" providerId="ADAL" clId="{327516EC-8C24-4943-86BA-6EBE4AB9787B}" dt="2026-06-23T04:23:42.402" v="50" actId="14100"/>
          <ac:spMkLst>
            <pc:docMk/>
            <pc:sldMk cId="0" sldId="265"/>
            <ac:spMk id="6" creationId="{00000000-0000-0000-0000-000000000000}"/>
          </ac:spMkLst>
        </pc:spChg>
        <pc:spChg chg="mod">
          <ac:chgData name="Bollan Zhang" userId="23c4fe0f-c2f3-4f83-bb70-6c6cab73c5be" providerId="ADAL" clId="{327516EC-8C24-4943-86BA-6EBE4AB9787B}" dt="2026-06-23T04:26:00.469" v="60"/>
          <ac:spMkLst>
            <pc:docMk/>
            <pc:sldMk cId="0" sldId="265"/>
            <ac:spMk id="8" creationId="{00000000-0000-0000-0000-000000000000}"/>
          </ac:spMkLst>
        </pc:spChg>
      </pc:sldChg>
      <pc:sldChg chg="modSp mod">
        <pc:chgData name="Bollan Zhang" userId="23c4fe0f-c2f3-4f83-bb70-6c6cab73c5be" providerId="ADAL" clId="{327516EC-8C24-4943-86BA-6EBE4AB9787B}" dt="2026-06-24T07:55:22.368" v="62" actId="1076"/>
        <pc:sldMkLst>
          <pc:docMk/>
          <pc:sldMk cId="0" sldId="270"/>
        </pc:sldMkLst>
        <pc:spChg chg="mod">
          <ac:chgData name="Bollan Zhang" userId="23c4fe0f-c2f3-4f83-bb70-6c6cab73c5be" providerId="ADAL" clId="{327516EC-8C24-4943-86BA-6EBE4AB9787B}" dt="2026-06-24T07:55:22.368" v="62" actId="1076"/>
          <ac:spMkLst>
            <pc:docMk/>
            <pc:sldMk cId="0" sldId="270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24.06.2026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 dirty="0" err="1">
                <a:solidFill>
                  <a:srgbClr val="000000"/>
                </a:solidFill>
              </a:rPr>
              <a:t>大家好，欢迎参加本次由IT部门举办的“IT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 Tips”系列培训的第一期。今天我们将一起学习如何使用OneDrive，这是一个强大的云存储工具，能帮助我们实现文件的安全备份和高效协作。本次指南将重点讲解如何登录以及如何理解文件的同步状态，让我们轻松上手，提升工作效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今天的培训结束后，大家将能够熟练地使用公司账号登录OneDrive，并且能够看懂文件旁边那些小图标所代表的含义。更重要的是，我们会学习如何解决一些常见的同步问题，确保您的文件始终安全、可用。我们的最终目标是帮助大家提升工作效率，实现真正的无缝办公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本次培训将分为三个部分。首先，我们会详细讲解如何使用公司账号登录OneDrive。接着，我们会深入解析各种同步状态图标，这是使用OneDrive的关键。最后，我们会分享一些常见问题的快速排查方法。希望通过这个大纲，大家对今天的内容有一个清晰的了解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第一步是找到OneDrive客户端。最快捷的方式是查看任务栏右下角的隐藏图标区域，找到蓝色云朵图标。如果找不到，可以通过Windows开始菜单搜索“OneDrive”来启动应用。这是启动程序的第一步，非常简单。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 dirty="0" err="1">
                <a:solidFill>
                  <a:srgbClr val="000000"/>
                </a:solidFill>
              </a:rPr>
              <a:t>打开客户端后，系统会提示您输入邮箱地址。请务必输入公司分配给您的工作邮箱，而不是个人邮箱。输入完成后点击“Sign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 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in”按钮。这一步是连接到公司云盘的关键，请大家务必注意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输入密码后，为了确保账户安全，系统会触发多因素认证，也就是二次验证。您可以选择通过短信接收验证码，或者使用手机上的Microsoft Authenticator App进行批准。这是一个非常重要的安全措施，请大家务必完成。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验证通过后，我们需要完成最后的配置。首先是确认OneDrive文件夹的位置，建议大家直接使用默认路径。接下来是一个非常推荐的步骤：设置文件夹备份。您可以选择将桌面、文档和图片文件夹自动同步到云端，这样可以极大地保障您文件的安全。开启后，后续所有提示都点击“下一步”即可完成设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看到任务栏右下角出现稳定的蓝色云朵图标，并且在文件资源管理器中看到了您的OneDrive文件夹，就说明登录成功了！从现在开始，您只需要像使用普通文件夹一样，将文件保存到这里，它们就会自动同步到云端，非常方便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登录成功后，我们会看到文件旁边出现各种小图标。这些图标就是同步状态的信号灯。它们主要分为三类：稳定状态、动态状态和异常状态。学会识别它们，能帮助我们更好地管理文件，避免误操作。接下来，我们就来逐一解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是稳定状态，意味着文件已经就绪。绿色对钩表示文件已同步到本地，可以离线使用。绿色实心圆表示文件被标记为“始终保留”，同样可以离线使用。而蓝色云朵则表示文件仅在线可用，不占用本地空间。大家可以根据自己的需求，通过右键菜单在这几种状态之间切换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接下来是动态状态，说明文件正在同步过程中。蓝色循环箭头表示文件正在上传或下载，请大家耐心等待，不要中断。如果看到暂停图标，说明同步被暂停了，您可以通过任务栏图标手动恢复同步。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是异常状态，这些图标需要大家特别关注。红色叉号表示同步失败，这是最严重的情况，需要立即处理，否则可能导致数据丢失。黄色感叹号通常是同步冲突或权限问题，可以根据提示解决。灰色带斜线的图标则表示您未登录，需要重新登录OneDrive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除了文件级别的状态，我们还要关注账户级别的状态。如果任务栏的OneDrive图标上出现黄色或红色感叹号，说明您的账户有问题，比如空间不足或登录过期。如果出现带叉的红色圆圈，那问题就比较严重了，可能是无法同步文件，需要立即查看错误详情或联系IT支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里是一个速查表，汇总了我们刚才提到的所有核心图标。大家可以截图保存，以便日后快速查阅。记住这几个关键图标：绿色对钩代表已同步，蓝色云朵代表仅在线，蓝色箭头代表同步中，红色叉号代表失败。掌握了这些，您就掌握了OneDrive的精髓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接下来我们看看几个常见问题。第一个是登录时提示账号或密码错误。请大家先检查是否输入了正确的公司邮箱，而不是个人邮箱。然后检查密码的大小写和拼写是否正确。如果还是不行，可能是密码忘记了或者账号被锁定，可以尝试重置密码或联系IT支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个常见问题是同步卡住。如果文件长时间显示“正在同步”，首先检查网络是否正常。如果网络没问题，可以尝试重启OneDrive客户端。另外，如果您在同步一个非常大的文件，比如超过1GB，也可能导致同步缓慢，建议拆分后再上传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第三个问题是出现红色叉号，同步失败。这通常有三个原因：第一，文件名包含了特殊字符，需要重命名；第二，文件正在被其他程序打开占用，需要关闭相关程序；第三，云端存储空间已满。请大家逐一排查这几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好了，今天的主要内容就到这里。我们回顾一下，首先是登录流程，其次是如何识别各种同步状态图标，最后是几个常见问题的排查方法。希望大家都有所收获。现在是问答环节，大家有任何问题都可以提出来。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2867848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0368925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307885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4158464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8732044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5033580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6486477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4305542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4513627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7759216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3938283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28586884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4395425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05653563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1782449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0519824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3363170"/>
      </p:ext>
    </p:ext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2000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6497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57483796" r:id="rId1"/>
    <p:sldLayoutId id="2157483797" r:id="rId2"/>
    <p:sldLayoutId id="2157483798" r:id="rId3"/>
    <p:sldLayoutId id="2157483799" r:id="rId4"/>
    <p:sldLayoutId id="2157483800" r:id="rId5"/>
    <p:sldLayoutId id="2157483801" r:id="rId6"/>
    <p:sldLayoutId id="2157483802" r:id="rId7"/>
    <p:sldLayoutId id="2157483803" r:id="rId8"/>
    <p:sldLayoutId id="2157483804" r:id="rId9"/>
    <p:sldLayoutId id="2157483805" r:id="rId10"/>
    <p:sldLayoutId id="2157483806" r:id="rId11"/>
    <p:sldLayoutId id="2157483807" r:id="rId12"/>
    <p:sldLayoutId id="2157483808" r:id="rId13"/>
    <p:sldLayoutId id="2157483809" r:id="rId14"/>
    <p:sldLayoutId id="2157483810" r:id="rId15"/>
    <p:sldLayoutId id="2157483811" r:id="rId16"/>
    <p:sldLayoutId id="2157483812" r:id="rId17"/>
    <p:sldLayoutId id="2157483813" r:id="rId18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1.png"/><Relationship Id="rId5" Type="http://schemas.openxmlformats.org/officeDocument/2006/relationships/image" Target="../media/image4.svg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1.pn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1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23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29.png"/><Relationship Id="rId5" Type="http://schemas.openxmlformats.org/officeDocument/2006/relationships/image" Target="../media/image1.png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24.png"/><Relationship Id="rId5" Type="http://schemas.openxmlformats.org/officeDocument/2006/relationships/image" Target="../media/image30.png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35.png"/><Relationship Id="rId5" Type="http://schemas.openxmlformats.org/officeDocument/2006/relationships/image" Target="../media/image25.png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7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29.png"/><Relationship Id="rId5" Type="http://schemas.openxmlformats.org/officeDocument/2006/relationships/image" Target="../media/image1.png"/><Relationship Id="rId4" Type="http://schemas.openxmlformats.org/officeDocument/2006/relationships/image" Target="../media/image28.png"/><Relationship Id="rId9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38.svg"/><Relationship Id="rId4" Type="http://schemas.openxmlformats.org/officeDocument/2006/relationships/image" Target="../media/image37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41.svg"/><Relationship Id="rId4" Type="http://schemas.openxmlformats.org/officeDocument/2006/relationships/image" Target="../media/image40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44.svg"/><Relationship Id="rId4" Type="http://schemas.openxmlformats.org/officeDocument/2006/relationships/image" Target="../media/image43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47.svg"/><Relationship Id="rId5" Type="http://schemas.openxmlformats.org/officeDocument/2006/relationships/image" Target="../media/image46.svg"/><Relationship Id="rId4" Type="http://schemas.openxmlformats.org/officeDocument/2006/relationships/image" Target="../media/image4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1270000" y="2496317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altLang="zh-CN" sz="4800" b="1" dirty="0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IT Tips </a:t>
            </a:r>
            <a:r>
              <a:rPr lang="en-US" altLang="zh-CN" sz="4800" b="1" dirty="0" err="1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第一期</a:t>
            </a:r>
            <a:r>
              <a:rPr lang="en-US" altLang="zh-CN" sz="4800" b="1" dirty="0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： </a:t>
            </a:r>
            <a:br>
              <a:rPr lang="en-US" altLang="zh-CN" sz="4800" b="1" dirty="0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4800" b="1" i="0" u="none" strike="noStrike" dirty="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OneDrive </a:t>
            </a:r>
            <a:r>
              <a:rPr lang="en-US" sz="4800" b="1" i="0" u="none" strike="noStrike" dirty="0" err="1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登录与同步状态指南</a:t>
            </a:r>
            <a:endParaRPr lang="en-US" sz="1100" dirty="0"/>
          </a:p>
        </p:txBody>
      </p:sp>
      <p:cxnSp>
        <p:nvCxnSpPr>
          <p:cNvPr id="6" name="Connector 6"/>
          <p:cNvCxnSpPr/>
          <p:nvPr/>
        </p:nvCxnSpPr>
        <p:spPr>
          <a:xfrm rot="-4297">
            <a:off x="1016004" y="5327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43A4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922000" y="6337300"/>
            <a:ext cx="1270000" cy="50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8636000" y="5588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IT Department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2026年6月 | 内部培训资料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本次培训，您将学到什么？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欢迎参加本次关于OneDrive的培训。本指南旨在帮助您快速掌握OneDrive的核心使用技巧，确保您的工作文件安全、高效地同步与协作，让云端办公成为日常工作的有力支撑。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794000"/>
            <a:ext cx="52705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0078D4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2794000"/>
            <a:ext cx="76200" cy="1460500"/>
          </a:xfrm>
          <a:prstGeom prst="roundRect">
            <a:avLst>
              <a:gd name="adj" fmla="val 0"/>
            </a:avLst>
          </a:prstGeom>
          <a:solidFill>
            <a:srgbClr val="0078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9500" y="29845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651000" y="2921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快速完成账号登录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9291">
            <a:off x="1079509" y="3486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1079500" y="3619500"/>
            <a:ext cx="4699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熟练掌握公司工作账号的登录流程，包括多因素认证（MFA）的安全验证操作，确保账号访问的合规与安全。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286500" y="2794000"/>
            <a:ext cx="52705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0078D4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6286500" y="2794000"/>
            <a:ext cx="76200" cy="1460500"/>
          </a:xfrm>
          <a:prstGeom prst="roundRect">
            <a:avLst>
              <a:gd name="adj" fmla="val 0"/>
            </a:avLst>
          </a:prstGeom>
          <a:solidFill>
            <a:srgbClr val="0078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4000" y="29845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7175500" y="2921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精准识别同步状态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9291">
            <a:off x="6604009" y="3486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6604000" y="3619500"/>
            <a:ext cx="4699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学会解读文件资源管理器中各类同步图标的含义，清晰了解文件“正在同步”“已同步”或“需要关注”的实时状态。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2000" y="4572000"/>
            <a:ext cx="52705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0078D4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762000" y="4572000"/>
            <a:ext cx="76200" cy="1460500"/>
          </a:xfrm>
          <a:prstGeom prst="roundRect">
            <a:avLst>
              <a:gd name="adj" fmla="val 0"/>
            </a:avLst>
          </a:prstGeom>
          <a:solidFill>
            <a:srgbClr val="0078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9500" y="4762500"/>
            <a:ext cx="406400" cy="4064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1651000" y="4699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排查解决常见故障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9291">
            <a:off x="1079509" y="5264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1079500" y="5397500"/>
            <a:ext cx="4699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掌握快速排查登录失败、同步卡顿、文件冲突等常见问题的实用方法，有效减少工作中断，提升问题解决效率。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286500" y="4572000"/>
            <a:ext cx="52705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0078D4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6286500" y="4572000"/>
            <a:ext cx="76200" cy="1460500"/>
          </a:xfrm>
          <a:prstGeom prst="roundRect">
            <a:avLst>
              <a:gd name="adj" fmla="val 0"/>
            </a:avLst>
          </a:prstGeom>
          <a:solidFill>
            <a:srgbClr val="0078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04000" y="4762500"/>
            <a:ext cx="406400" cy="4064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7175500" y="4699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筑牢文件安全防线</a:t>
            </a:r>
            <a:endParaRPr lang="en-US" sz="1100"/>
          </a:p>
        </p:txBody>
      </p:sp>
      <p:cxnSp>
        <p:nvCxnSpPr>
          <p:cNvPr id="27" name="Connector 27"/>
          <p:cNvCxnSpPr/>
          <p:nvPr/>
        </p:nvCxnSpPr>
        <p:spPr>
          <a:xfrm rot="-9291">
            <a:off x="6604009" y="5264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" name="AutoShape 28"/>
          <p:cNvSpPr/>
          <p:nvPr/>
        </p:nvSpPr>
        <p:spPr>
          <a:xfrm>
            <a:off x="6604000" y="5397500"/>
            <a:ext cx="4699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确保重要工作文件自动、实时备份至云端，彻底消除因设备故障、丢失或损坏导致的关键数据丢失风险。</a:t>
            </a:r>
            <a:endParaRPr lang="en-US" sz="1100"/>
          </a:p>
        </p:txBody>
      </p:sp>
      <p:pic>
        <p:nvPicPr>
          <p:cNvPr id="29" name="Picture 7">
            <a:extLst>
              <a:ext uri="{FF2B5EF4-FFF2-40B4-BE49-F238E27FC236}">
                <a16:creationId xmlns:a16="http://schemas.microsoft.com/office/drawing/2014/main" id="{C50A827A-459D-1B6A-800D-6D3FC55B6BD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10922000" y="6337300"/>
            <a:ext cx="1270000" cy="50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OneDrive </a:t>
            </a:r>
            <a:r>
              <a:rPr lang="en-US" sz="3200" b="1" i="0" u="none" strike="noStrike" dirty="0" err="1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基础操作与问题排查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3429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0078D4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3429000" cy="76200"/>
          </a:xfrm>
          <a:prstGeom prst="roundRect">
            <a:avLst>
              <a:gd name="adj" fmla="val 0"/>
            </a:avLst>
          </a:prstGeom>
          <a:solidFill>
            <a:srgbClr val="0078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413000"/>
            <a:ext cx="508000" cy="508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778000" y="24130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 dirty="0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01. </a:t>
            </a:r>
            <a:r>
              <a:rPr lang="en-US" sz="2000" b="1" i="0" u="none" strike="noStrike" dirty="0" err="1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账号登录全流程</a:t>
            </a:r>
            <a:endParaRPr lang="en-US" sz="1100" dirty="0"/>
          </a:p>
        </p:txBody>
      </p:sp>
      <p:cxnSp>
        <p:nvCxnSpPr>
          <p:cNvPr id="8" name="Connector 8"/>
          <p:cNvCxnSpPr/>
          <p:nvPr/>
        </p:nvCxnSpPr>
        <p:spPr>
          <a:xfrm rot="-14946">
            <a:off x="1016014" y="3295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78D4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3556000"/>
            <a:ext cx="2921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 dirty="0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详细讲解Windows端从定位OneDrive客户端、输入企业工作账号、完成多因素身份验证，到最终完成同步路径配置的完整操作步骤，确保账号安全、合规接入公司云存储服务。</a:t>
            </a:r>
            <a:endParaRPr lang="en-US" sz="1100" dirty="0"/>
          </a:p>
        </p:txBody>
      </p:sp>
      <p:sp>
        <p:nvSpPr>
          <p:cNvPr id="10" name="AutoShape 10"/>
          <p:cNvSpPr/>
          <p:nvPr/>
        </p:nvSpPr>
        <p:spPr>
          <a:xfrm>
            <a:off x="4381500" y="2032000"/>
            <a:ext cx="3429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0078D4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4381500" y="2032000"/>
            <a:ext cx="3429000" cy="76200"/>
          </a:xfrm>
          <a:prstGeom prst="roundRect">
            <a:avLst>
              <a:gd name="adj" fmla="val 0"/>
            </a:avLst>
          </a:prstGeom>
          <a:solidFill>
            <a:srgbClr val="0078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5500" y="2413000"/>
            <a:ext cx="508000" cy="508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397500" y="24130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 dirty="0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02. </a:t>
            </a:r>
            <a:r>
              <a:rPr lang="en-US" sz="2000" b="1" i="0" u="none" strike="noStrike" dirty="0" err="1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同步状态图标解析</a:t>
            </a:r>
            <a:endParaRPr lang="en-US" sz="1100" dirty="0"/>
          </a:p>
        </p:txBody>
      </p:sp>
      <p:cxnSp>
        <p:nvCxnSpPr>
          <p:cNvPr id="14" name="Connector 14"/>
          <p:cNvCxnSpPr/>
          <p:nvPr/>
        </p:nvCxnSpPr>
        <p:spPr>
          <a:xfrm rot="-14946">
            <a:off x="4635514" y="3295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78D4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635500" y="3556000"/>
            <a:ext cx="2921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 dirty="0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逐一拆解“</a:t>
            </a:r>
            <a:r>
              <a:rPr lang="en-US" sz="1400" b="0" i="0" u="none" strike="noStrike" dirty="0" err="1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正在同步</a:t>
            </a:r>
            <a:r>
              <a:rPr lang="en-US" sz="1400" b="0" i="0" u="none" strike="noStrike" dirty="0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”“</a:t>
            </a:r>
            <a:r>
              <a:rPr lang="en-US" sz="1400" b="0" i="0" u="none" strike="noStrike" dirty="0" err="1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已同步完成</a:t>
            </a:r>
            <a:r>
              <a:rPr lang="en-US" sz="1400" b="0" i="0" u="none" strike="noStrike" dirty="0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”“</a:t>
            </a:r>
            <a:r>
              <a:rPr lang="en-US" sz="1400" b="0" i="0" u="none" strike="noStrike" dirty="0" err="1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需要关注</a:t>
            </a:r>
            <a:r>
              <a:rPr lang="en-US" sz="1400" b="0" i="0" u="none" strike="noStrike" dirty="0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en-US" sz="1400" b="0" i="0" u="none" strike="noStrike" dirty="0" err="1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同步失败”等核心状态图标的视觉特征与含义，帮助用户快速识别文件状态，避免因误判导致的操作失误与数据丢失风险</a:t>
            </a:r>
            <a:r>
              <a:rPr lang="en-US" sz="1400" b="0" i="0" u="none" strike="noStrike" dirty="0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6" name="AutoShape 16"/>
          <p:cNvSpPr/>
          <p:nvPr/>
        </p:nvSpPr>
        <p:spPr>
          <a:xfrm>
            <a:off x="8001000" y="2032000"/>
            <a:ext cx="3429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0078D4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8001000" y="2032000"/>
            <a:ext cx="3429000" cy="76200"/>
          </a:xfrm>
          <a:prstGeom prst="roundRect">
            <a:avLst>
              <a:gd name="adj" fmla="val 0"/>
            </a:avLst>
          </a:prstGeom>
          <a:solidFill>
            <a:srgbClr val="0078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55000" y="2413000"/>
            <a:ext cx="508000" cy="5080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9017000" y="24130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 dirty="0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03. </a:t>
            </a:r>
            <a:r>
              <a:rPr lang="en-US" sz="2000" b="1" i="0" u="none" strike="noStrike" dirty="0" err="1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常见问题快速排查</a:t>
            </a:r>
            <a:endParaRPr lang="en-US" sz="1100" dirty="0"/>
          </a:p>
        </p:txBody>
      </p:sp>
      <p:cxnSp>
        <p:nvCxnSpPr>
          <p:cNvPr id="20" name="Connector 20"/>
          <p:cNvCxnSpPr/>
          <p:nvPr/>
        </p:nvCxnSpPr>
        <p:spPr>
          <a:xfrm rot="-14946">
            <a:off x="8255014" y="3295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78D4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8255000" y="3556000"/>
            <a:ext cx="2921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 dirty="0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针对登录认证失败、文件同步卡顿、本地与云端文件冲突等高频问题，梳理清晰的排查逻辑，提供可直接落地的解决方案，助力团队高效解决日常使用中的技术障碍。</a:t>
            </a:r>
            <a:endParaRPr lang="en-US" sz="1100" dirty="0"/>
          </a:p>
        </p:txBody>
      </p:sp>
      <p:sp>
        <p:nvSpPr>
          <p:cNvPr id="22" name="AutoShape 22"/>
          <p:cNvSpPr/>
          <p:nvPr/>
        </p:nvSpPr>
        <p:spPr>
          <a:xfrm>
            <a:off x="762000" y="57150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0078D4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1016000" y="5842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 dirty="0" err="1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核心目标：</a:t>
            </a:r>
            <a:r>
              <a:rPr lang="en-US" sz="1400" b="0" i="0" u="none" strike="noStrike" dirty="0" err="1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掌握OneDrive基础配置，读懂同步状态，具备独立排查常见问题的能力，保障云端协作顺畅高效</a:t>
            </a:r>
            <a:r>
              <a:rPr lang="en-US" sz="1400" b="0" i="0" u="none" strike="noStrike" dirty="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pic>
        <p:nvPicPr>
          <p:cNvPr id="24" name="Picture 7">
            <a:extLst>
              <a:ext uri="{FF2B5EF4-FFF2-40B4-BE49-F238E27FC236}">
                <a16:creationId xmlns:a16="http://schemas.microsoft.com/office/drawing/2014/main" id="{2C4EDD5C-2C82-08E0-8551-2709270B2C3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0922000" y="6337300"/>
            <a:ext cx="1270000" cy="50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步骤 1：找到 OneDrive 客户端入口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t="2958" b="2958"/>
          <a:stretch>
            <a:fillRect/>
          </a:stretch>
        </p:blipFill>
        <p:spPr>
          <a:xfrm>
            <a:off x="762000" y="2032000"/>
            <a:ext cx="3556000" cy="279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762000" y="5207000"/>
            <a:ext cx="355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OneDrive 客户端图标以蓝色云朵为核心视觉元素，简洁易识别，是您访问云端文件的快捷入口。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5389582">
            <a:off x="2984500" y="3994160"/>
            <a:ext cx="419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78D4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5461000" y="1905000"/>
            <a:ext cx="5969000" cy="1968500"/>
          </a:xfrm>
          <a:prstGeom prst="roundRect">
            <a:avLst>
              <a:gd name="adj" fmla="val 0"/>
            </a:avLst>
          </a:prstGeom>
          <a:solidFill>
            <a:srgbClr val="0078D4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5461000" y="1905000"/>
            <a:ext cx="76200" cy="1968500"/>
          </a:xfrm>
          <a:prstGeom prst="roundRect">
            <a:avLst>
              <a:gd name="adj" fmla="val 0"/>
            </a:avLst>
          </a:prstGeom>
          <a:solidFill>
            <a:srgbClr val="0078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15000" y="20955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159500" y="20574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方法一：通过任务栏图标（推荐）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7994">
            <a:off x="5715007" y="2597150"/>
            <a:ext cx="546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78D4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5715000" y="2730500"/>
            <a:ext cx="558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点击电脑任务栏右下角的上箭头（显示隐藏图标），在弹出的图标列表中，找到蓝色云朵形状的 OneDrive 图标并点击，即可快速打开客户端面板。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461000" y="4191000"/>
            <a:ext cx="5969000" cy="1968500"/>
          </a:xfrm>
          <a:prstGeom prst="roundRect">
            <a:avLst>
              <a:gd name="adj" fmla="val 0"/>
            </a:avLst>
          </a:prstGeom>
          <a:solidFill>
            <a:srgbClr val="343A4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5461000" y="4191000"/>
            <a:ext cx="76200" cy="1968500"/>
          </a:xfrm>
          <a:prstGeom prst="roundRect">
            <a:avLst>
              <a:gd name="adj" fmla="val 0"/>
            </a:avLst>
          </a:prstGeom>
          <a:solidFill>
            <a:srgbClr val="49505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15000" y="43815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159500" y="43434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方法二：通过开始菜单搜索启动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7994">
            <a:off x="5715007" y="4883150"/>
            <a:ext cx="546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43A4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5715000" y="5016500"/>
            <a:ext cx="558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若任务栏无图标，按下键盘“Win键”，在开始菜单搜索框输入“OneDrive”，在搜索结果列表中找到并点击 OneDrive 应用程序，即可完成启动。</a:t>
            </a:r>
            <a:endParaRPr lang="en-US" sz="1100"/>
          </a:p>
        </p:txBody>
      </p:sp>
      <p:pic>
        <p:nvPicPr>
          <p:cNvPr id="19" name="Picture 7">
            <a:extLst>
              <a:ext uri="{FF2B5EF4-FFF2-40B4-BE49-F238E27FC236}">
                <a16:creationId xmlns:a16="http://schemas.microsoft.com/office/drawing/2014/main" id="{390E4A6A-DC5B-CF73-B41B-D40E73BEFE2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0922000" y="6337300"/>
            <a:ext cx="1270000" cy="50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步骤</a:t>
            </a:r>
            <a:r>
              <a:rPr lang="en-US" sz="3200" b="1" i="0" u="none" strike="noStrike" dirty="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 2：输入公司工作账号</a:t>
            </a:r>
            <a:endParaRPr lang="en-US" sz="1100" dirty="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t="13577" b="13577"/>
          <a:stretch>
            <a:fillRect/>
          </a:stretch>
        </p:blipFill>
        <p:spPr>
          <a:xfrm>
            <a:off x="762000" y="1778000"/>
            <a:ext cx="4826000" cy="3302000"/>
          </a:xfrm>
          <a:prstGeom prst="rect">
            <a:avLst/>
          </a:prstGeom>
          <a:noFill/>
          <a:ln w="12700" cap="flat" cmpd="sng">
            <a:solidFill>
              <a:srgbClr val="0078D4">
                <a:alpha val="30000"/>
              </a:srgbClr>
            </a:solidFill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6096000" y="1778000"/>
            <a:ext cx="5334000" cy="1524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0078D4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50000" y="1968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6921500" y="1930400"/>
            <a:ext cx="4445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 dirty="0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01. </a:t>
            </a:r>
            <a:r>
              <a:rPr lang="en-US" sz="1800" b="1" i="0" u="none" strike="noStrike" dirty="0" err="1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输入公司邮箱地址</a:t>
            </a:r>
            <a:endParaRPr lang="en-US" sz="1100" dirty="0"/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 dirty="0" err="1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在“Email</a:t>
            </a:r>
            <a:r>
              <a:rPr lang="en-US" sz="1400" b="0" i="0" u="none" strike="noStrike" dirty="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400" b="0" i="0" u="none" strike="noStrike" dirty="0" err="1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address”输入框中，准确填写公司分配的工作邮箱</a:t>
            </a:r>
            <a:r>
              <a:rPr lang="en-US" sz="1400" b="0" i="0" u="none" strike="noStrike" dirty="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 dirty="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格式示例：XXX@jula.com</a:t>
            </a:r>
          </a:p>
        </p:txBody>
      </p:sp>
      <p:sp>
        <p:nvSpPr>
          <p:cNvPr id="8" name="AutoShape 8"/>
          <p:cNvSpPr/>
          <p:nvPr/>
        </p:nvSpPr>
        <p:spPr>
          <a:xfrm>
            <a:off x="6096000" y="3556000"/>
            <a:ext cx="5334000" cy="1524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0078D4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50000" y="37465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921500" y="3708400"/>
            <a:ext cx="4445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 dirty="0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02. </a:t>
            </a:r>
            <a:r>
              <a:rPr lang="en-US" sz="1800" b="1" i="0" u="none" strike="noStrike" dirty="0" err="1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点击“Sign</a:t>
            </a:r>
            <a:r>
              <a:rPr lang="en-US" sz="1800" b="1" i="0" u="none" strike="noStrike" dirty="0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800" b="1" i="0" u="none" strike="noStrike" dirty="0" err="1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in”完成登录</a:t>
            </a:r>
            <a:endParaRPr lang="en-US" sz="1100" dirty="0"/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 dirty="0" err="1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确认邮箱无误后，点击界面中的蓝色“Sign</a:t>
            </a:r>
            <a:r>
              <a:rPr lang="en-US" sz="1400" b="0" i="0" u="none" strike="noStrike" dirty="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400" b="0" i="0" u="none" strike="noStrike" dirty="0" err="1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in”按钮，系统将验证账号信息并进入下一步</a:t>
            </a:r>
            <a:r>
              <a:rPr lang="en-US" sz="1400" b="0" i="0" u="none" strike="noStrike" dirty="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762000" y="5461000"/>
            <a:ext cx="10668000" cy="1079500"/>
          </a:xfrm>
          <a:prstGeom prst="roundRect">
            <a:avLst>
              <a:gd name="adj" fmla="val 0"/>
            </a:avLst>
          </a:prstGeom>
          <a:solidFill>
            <a:srgbClr val="0078D4">
              <a:alpha val="10000"/>
            </a:srgbClr>
          </a:solidFill>
          <a:ln w="12700" cap="flat" cmpd="sng">
            <a:solidFill>
              <a:srgbClr val="0078D4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565150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651000" y="5613400"/>
            <a:ext cx="952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 dirty="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关键提示：</a:t>
            </a:r>
            <a:r>
              <a:rPr lang="en-US" sz="1400" b="0" i="0" u="none" strike="noStrike" dirty="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请务必使用公司分配的工作邮箱，切勿使用个人邮箱登录。这是成功连接公司OneDrive云空间、获取团队协作权限的必要前提。</a:t>
            </a:r>
            <a:endParaRPr lang="en-US" sz="1100" dirty="0"/>
          </a:p>
        </p:txBody>
      </p:sp>
      <p:pic>
        <p:nvPicPr>
          <p:cNvPr id="14" name="Picture 7">
            <a:extLst>
              <a:ext uri="{FF2B5EF4-FFF2-40B4-BE49-F238E27FC236}">
                <a16:creationId xmlns:a16="http://schemas.microsoft.com/office/drawing/2014/main" id="{9F593E4A-60F0-43F4-4AEB-066F024A456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10922000" y="6337300"/>
            <a:ext cx="1270000" cy="50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步骤</a:t>
            </a:r>
            <a:r>
              <a:rPr lang="en-US" sz="3200" b="1" i="0" u="none" strike="noStrike" dirty="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 3：完成多因素认证（MFA）验证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1270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 dirty="0" err="1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为了保障账户及数据安全，在输入密码后，系统将触发二次验证流程，请按以下步骤操作</a:t>
            </a:r>
            <a:r>
              <a:rPr lang="en-US" sz="1600" b="0" i="0" u="none" strike="noStrike" dirty="0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762000" y="2159000"/>
            <a:ext cx="3429000" cy="3175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12700" cap="flat" cmpd="sng">
            <a:solidFill>
              <a:srgbClr val="0078D4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2159000"/>
            <a:ext cx="3429000" cy="76200"/>
          </a:xfrm>
          <a:prstGeom prst="roundRect">
            <a:avLst>
              <a:gd name="adj" fmla="val 0"/>
            </a:avLst>
          </a:prstGeom>
          <a:solidFill>
            <a:srgbClr val="0078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4765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24000" y="2438400"/>
            <a:ext cx="2413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 dirty="0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01 </a:t>
            </a:r>
            <a:r>
              <a:rPr lang="en-US" sz="2000" b="1" i="0" u="none" strike="noStrike" dirty="0" err="1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输入账户密码</a:t>
            </a:r>
            <a:endParaRPr lang="en-US" sz="1100" dirty="0"/>
          </a:p>
        </p:txBody>
      </p:sp>
      <p:cxnSp>
        <p:nvCxnSpPr>
          <p:cNvPr id="9" name="Connector 9"/>
          <p:cNvCxnSpPr/>
          <p:nvPr/>
        </p:nvCxnSpPr>
        <p:spPr>
          <a:xfrm rot="-14946">
            <a:off x="1016014" y="3105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1016000" y="3302000"/>
            <a:ext cx="292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 dirty="0" err="1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首先在登录界面输入您的</a:t>
            </a:r>
            <a:r>
              <a:rPr lang="en-US" sz="1400" b="0" i="0" u="none" strike="noStrike" dirty="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 OneDrive </a:t>
            </a:r>
            <a:r>
              <a:rPr lang="en-US" sz="1400" b="0" i="0" u="none" strike="noStrike" dirty="0" err="1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账户密码，这是身份验证的第一道防线，确保只有您本人可以访问账户</a:t>
            </a:r>
            <a:r>
              <a:rPr lang="en-US" sz="1400" b="0" i="0" u="none" strike="noStrike" dirty="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1" name="AutoShape 11"/>
          <p:cNvSpPr/>
          <p:nvPr/>
        </p:nvSpPr>
        <p:spPr>
          <a:xfrm>
            <a:off x="1016000" y="4445000"/>
            <a:ext cx="2921000" cy="762000"/>
          </a:xfrm>
          <a:prstGeom prst="roundRect">
            <a:avLst>
              <a:gd name="adj" fmla="val 0"/>
            </a:avLst>
          </a:prstGeom>
          <a:solidFill>
            <a:srgbClr val="0078D4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1143000" y="4546600"/>
            <a:ext cx="2667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1" i="0" u="none" strike="noStrike" dirty="0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密码规则提示：</a:t>
            </a:r>
            <a:r>
              <a:rPr lang="en-US" sz="1300" b="0" i="0" u="none" strike="noStrike" dirty="0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需至少9位，包含大小写字母及数字或特殊字符组合。</a:t>
            </a:r>
            <a:endParaRPr lang="en-US" sz="1100" dirty="0"/>
          </a:p>
        </p:txBody>
      </p:sp>
      <p:sp>
        <p:nvSpPr>
          <p:cNvPr id="13" name="AutoShape 13"/>
          <p:cNvSpPr/>
          <p:nvPr/>
        </p:nvSpPr>
        <p:spPr>
          <a:xfrm>
            <a:off x="4381500" y="2159000"/>
            <a:ext cx="3429000" cy="3175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12700" cap="flat" cmpd="sng">
            <a:solidFill>
              <a:srgbClr val="0078D4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4381500" y="2159000"/>
            <a:ext cx="3429000" cy="76200"/>
          </a:xfrm>
          <a:prstGeom prst="roundRect">
            <a:avLst>
              <a:gd name="adj" fmla="val 0"/>
            </a:avLst>
          </a:prstGeom>
          <a:solidFill>
            <a:srgbClr val="0078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5500" y="24765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5143500" y="2438400"/>
            <a:ext cx="2413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 dirty="0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02 </a:t>
            </a:r>
            <a:r>
              <a:rPr lang="en-US" sz="2000" b="1" i="0" u="none" strike="noStrike" dirty="0" err="1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选择二次验证方式</a:t>
            </a:r>
            <a:endParaRPr lang="en-US" sz="1100" dirty="0"/>
          </a:p>
        </p:txBody>
      </p:sp>
      <p:cxnSp>
        <p:nvCxnSpPr>
          <p:cNvPr id="17" name="Connector 17"/>
          <p:cNvCxnSpPr/>
          <p:nvPr/>
        </p:nvCxnSpPr>
        <p:spPr>
          <a:xfrm rot="-14946">
            <a:off x="4635514" y="3105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4635500" y="3302000"/>
            <a:ext cx="2921000" cy="952500"/>
          </a:xfrm>
          <a:prstGeom prst="roundRect">
            <a:avLst>
              <a:gd name="adj" fmla="val 0"/>
            </a:avLst>
          </a:prstGeom>
          <a:solidFill>
            <a:srgbClr val="F8F9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4762500" y="3365500"/>
            <a:ext cx="2667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 dirty="0" err="1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方式一：短信验证码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 dirty="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手机会收到6位数字验证码，在弹窗中准确输入即可完成验证。</a:t>
            </a:r>
            <a:endParaRPr lang="en-US" sz="1100" dirty="0"/>
          </a:p>
        </p:txBody>
      </p:sp>
      <p:sp>
        <p:nvSpPr>
          <p:cNvPr id="20" name="AutoShape 20"/>
          <p:cNvSpPr/>
          <p:nvPr/>
        </p:nvSpPr>
        <p:spPr>
          <a:xfrm>
            <a:off x="4635500" y="4381500"/>
            <a:ext cx="2921000" cy="952500"/>
          </a:xfrm>
          <a:prstGeom prst="roundRect">
            <a:avLst>
              <a:gd name="adj" fmla="val 0"/>
            </a:avLst>
          </a:prstGeom>
          <a:solidFill>
            <a:srgbClr val="F8F9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4762500" y="4445000"/>
            <a:ext cx="2667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 dirty="0" err="1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方式二：Authenticator</a:t>
            </a:r>
            <a:r>
              <a:rPr lang="en-US" sz="1400" b="1" i="0" u="none" strike="noStrike" dirty="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400" b="1" i="0" u="none" strike="noStrike" dirty="0" err="1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应用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 dirty="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打开手机应用，核对登录请求并点击“</a:t>
            </a:r>
            <a:r>
              <a:rPr lang="en-US" sz="1300" b="0" i="0" u="none" strike="noStrike" dirty="0" err="1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批准</a:t>
            </a:r>
            <a:r>
              <a:rPr lang="en-US" sz="1300" b="0" i="0" u="none" strike="noStrike" dirty="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”，</a:t>
            </a:r>
            <a:r>
              <a:rPr lang="en-US" sz="1300" b="0" i="0" u="none" strike="noStrike" dirty="0" err="1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验证更快捷安全</a:t>
            </a:r>
            <a:r>
              <a:rPr lang="en-US" sz="1300" b="0" i="0" u="none" strike="noStrike" dirty="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22" name="AutoShape 22"/>
          <p:cNvSpPr/>
          <p:nvPr/>
        </p:nvSpPr>
        <p:spPr>
          <a:xfrm>
            <a:off x="7965031" y="2152650"/>
            <a:ext cx="3429000" cy="3175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12700" cap="flat" cmpd="sng">
            <a:solidFill>
              <a:srgbClr val="0078D4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8001000" y="2159000"/>
            <a:ext cx="3429000" cy="76200"/>
          </a:xfrm>
          <a:prstGeom prst="roundRect">
            <a:avLst>
              <a:gd name="adj" fmla="val 0"/>
            </a:avLst>
          </a:prstGeom>
          <a:solidFill>
            <a:srgbClr val="0078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55000" y="2476500"/>
            <a:ext cx="406400" cy="4064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8763000" y="2438400"/>
            <a:ext cx="2413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 dirty="0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03 </a:t>
            </a:r>
            <a:r>
              <a:rPr lang="en-US" sz="2000" b="1" i="0" u="none" strike="noStrike" dirty="0" err="1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确认并完成验证</a:t>
            </a:r>
            <a:endParaRPr lang="en-US" sz="1100" dirty="0"/>
          </a:p>
        </p:txBody>
      </p:sp>
      <p:cxnSp>
        <p:nvCxnSpPr>
          <p:cNvPr id="26" name="Connector 26"/>
          <p:cNvCxnSpPr/>
          <p:nvPr/>
        </p:nvCxnSpPr>
        <p:spPr>
          <a:xfrm rot="-14946">
            <a:off x="8255014" y="3105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8255000" y="3302000"/>
            <a:ext cx="292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 dirty="0" err="1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确认验证码无误或成功批准登录请求后，点击界面上的“下一步”按钮。系统核验通过后，您将顺利进入</a:t>
            </a:r>
            <a:r>
              <a:rPr lang="en-US" sz="1400" b="0" i="0" u="none" strike="noStrike" dirty="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 OneDrive </a:t>
            </a:r>
            <a:r>
              <a:rPr lang="en-US" sz="1400" b="0" i="0" u="none" strike="noStrike" dirty="0" err="1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账户</a:t>
            </a:r>
            <a:r>
              <a:rPr lang="en-US" sz="1400" b="0" i="0" u="none" strike="noStrike" dirty="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28" name="AutoShape 28"/>
          <p:cNvSpPr/>
          <p:nvPr/>
        </p:nvSpPr>
        <p:spPr>
          <a:xfrm>
            <a:off x="8255000" y="4565650"/>
            <a:ext cx="2921000" cy="571500"/>
          </a:xfrm>
          <a:prstGeom prst="roundRect">
            <a:avLst>
              <a:gd name="adj" fmla="val 0"/>
            </a:avLst>
          </a:prstGeom>
          <a:solidFill>
            <a:srgbClr val="DCFCE7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29"/>
          <p:cNvSpPr/>
          <p:nvPr/>
        </p:nvSpPr>
        <p:spPr>
          <a:xfrm>
            <a:off x="8382000" y="46228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 dirty="0" err="1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验证成功！账户安全防护已生效</a:t>
            </a:r>
            <a:r>
              <a:rPr lang="en-US" sz="1300" b="1" i="0" u="none" strike="noStrike" dirty="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30" name="AutoShape 30"/>
          <p:cNvSpPr/>
          <p:nvPr/>
        </p:nvSpPr>
        <p:spPr>
          <a:xfrm>
            <a:off x="762000" y="5842000"/>
            <a:ext cx="10668000" cy="635000"/>
          </a:xfrm>
          <a:prstGeom prst="roundRect">
            <a:avLst>
              <a:gd name="adj" fmla="val 0"/>
            </a:avLst>
          </a:prstGeom>
          <a:solidFill>
            <a:srgbClr val="0078D4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" y="5969000"/>
            <a:ext cx="304800" cy="304800"/>
          </a:xfrm>
          <a:prstGeom prst="rect">
            <a:avLst/>
          </a:prstGeom>
        </p:spPr>
      </p:pic>
      <p:sp>
        <p:nvSpPr>
          <p:cNvPr id="32" name="AutoShape 32"/>
          <p:cNvSpPr/>
          <p:nvPr/>
        </p:nvSpPr>
        <p:spPr>
          <a:xfrm>
            <a:off x="1397000" y="5943600"/>
            <a:ext cx="9779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 dirty="0" err="1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重要提示：多因素认证（MFA）能有效防止密码泄露带来的风险，建议始终开启并妥善保管您的验证设备</a:t>
            </a:r>
            <a:r>
              <a:rPr lang="en-US" sz="1400" b="0" i="0" u="none" strike="noStrike" dirty="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pic>
        <p:nvPicPr>
          <p:cNvPr id="33" name="Picture 7">
            <a:extLst>
              <a:ext uri="{FF2B5EF4-FFF2-40B4-BE49-F238E27FC236}">
                <a16:creationId xmlns:a16="http://schemas.microsoft.com/office/drawing/2014/main" id="{DB9AD94B-0BF6-4C72-06C7-BB84267CEBA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10922000" y="6337300"/>
            <a:ext cx="1270000" cy="50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步骤 4：完成登录配置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t="18730" b="18730"/>
          <a:stretch>
            <a:fillRect/>
          </a:stretch>
        </p:blipFill>
        <p:spPr>
          <a:xfrm>
            <a:off x="762000" y="1651000"/>
            <a:ext cx="3429000" cy="203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762000" y="3937000"/>
            <a:ext cx="342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01. 确认文件夹位置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12732">
            <a:off x="762012" y="4438650"/>
            <a:ext cx="3429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78D4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762000" y="4572000"/>
            <a:ext cx="342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系统默认路径（如C:\Users\用户名\OneDrive）已为最佳选择，无需更改，直接点击“Next”即可进入下一步配置，保持默认能确保系统兼容性与同步效率。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5389889">
            <a:off x="2159000" y="3930659"/>
            <a:ext cx="4318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78D4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rcRect t="18560" b="18560"/>
          <a:stretch>
            <a:fillRect/>
          </a:stretch>
        </p:blipFill>
        <p:spPr>
          <a:xfrm>
            <a:off x="4508500" y="1651000"/>
            <a:ext cx="3429000" cy="203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0"/>
          <p:cNvSpPr/>
          <p:nvPr/>
        </p:nvSpPr>
        <p:spPr>
          <a:xfrm>
            <a:off x="4508500" y="3937000"/>
            <a:ext cx="342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02. 设置关键文件夹备份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12732">
            <a:off x="4508512" y="4438650"/>
            <a:ext cx="3429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78D4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4508500" y="4572000"/>
            <a:ext cx="342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强烈推荐开启“桌面、文档、图片”的自动同步开关。开启后，保存在这些常用文件夹中的文件将实时备份至云端，即使设备丢失或损坏，数据也能完整找回。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5389889">
            <a:off x="5905500" y="3930659"/>
            <a:ext cx="4318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78D4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8191500" y="1651000"/>
            <a:ext cx="3238500" cy="4318000"/>
          </a:xfrm>
          <a:prstGeom prst="roundRect">
            <a:avLst>
              <a:gd name="adj" fmla="val 0"/>
            </a:avLst>
          </a:prstGeom>
          <a:solidFill>
            <a:srgbClr val="0078D4">
              <a:alpha val="8000"/>
            </a:srgbClr>
          </a:solidFill>
          <a:ln w="12700" cap="flat" cmpd="sng">
            <a:solidFill>
              <a:srgbClr val="0078D4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000" y="1905000"/>
            <a:ext cx="508000" cy="508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9017000" y="1930400"/>
            <a:ext cx="2159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03. 完成最终设置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15278">
            <a:off x="8382014" y="2660650"/>
            <a:ext cx="28575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78D4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8382000" y="3048000"/>
            <a:ext cx="2857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跟随指引，一键完成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后续弹出的所有提示窗口，无需额外操作，均直接点击“下一步”或“继续”按钮，直至走完整个配置流程。</a:t>
            </a:r>
          </a:p>
        </p:txBody>
      </p:sp>
      <p:cxnSp>
        <p:nvCxnSpPr>
          <p:cNvPr id="19" name="Connector 19"/>
          <p:cNvCxnSpPr/>
          <p:nvPr/>
        </p:nvCxnSpPr>
        <p:spPr>
          <a:xfrm rot="-15278">
            <a:off x="8382014" y="4565650"/>
            <a:ext cx="28575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78D4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8382000" y="4826000"/>
            <a:ext cx="2857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开启云端之旅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最后点击“打开我的 OneDrive 文件夹”，即可开始使用安全、便捷的云端存储服务。</a:t>
            </a:r>
          </a:p>
        </p:txBody>
      </p:sp>
      <p:pic>
        <p:nvPicPr>
          <p:cNvPr id="21" name="Picture 7">
            <a:extLst>
              <a:ext uri="{FF2B5EF4-FFF2-40B4-BE49-F238E27FC236}">
                <a16:creationId xmlns:a16="http://schemas.microsoft.com/office/drawing/2014/main" id="{C2078656-4AFD-4763-F1B4-AC664639299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0922000" y="6337300"/>
            <a:ext cx="1270000" cy="50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登录成功！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恭喜您，已成功完成 OneDrive 的登录和配置！接下来您可以像使用本地文件夹一样，轻松管理和同步您的所有文件。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667000"/>
            <a:ext cx="52705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0078D4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143000" y="3095991"/>
            <a:ext cx="1270000" cy="1270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2540000" y="2857500"/>
            <a:ext cx="32385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任务栏图标确认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任务栏右下角的 OneDrive 图标已变为稳定的蓝色云朵，这是同步服务正常运行的核心标志，代表设备已与云端建立连接。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6286500" y="2667000"/>
            <a:ext cx="52705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0078D4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8064500" y="2857500"/>
            <a:ext cx="32385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资源管理器入口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在文件资源管理器左侧导航栏中，已出现您的 OneDrive 专属文件夹（如“Bollan - Jula”），点击即可快速访问、管理所有云端存储的文件。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762000" y="5334000"/>
            <a:ext cx="10668000" cy="1016000"/>
          </a:xfrm>
          <a:prstGeom prst="roundRect">
            <a:avLst>
              <a:gd name="adj" fmla="val 0"/>
            </a:avLst>
          </a:prstGeom>
          <a:solidFill>
            <a:srgbClr val="0078D4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762000" y="5334000"/>
            <a:ext cx="76200" cy="1016000"/>
          </a:xfrm>
          <a:prstGeom prst="roundRect">
            <a:avLst>
              <a:gd name="adj" fmla="val 0"/>
            </a:avLst>
          </a:prstGeom>
          <a:solidFill>
            <a:srgbClr val="0078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1016000" y="5461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立即开始使用：</a:t>
            </a:r>
            <a:r>
              <a:rPr lang="en-US" sz="1500" b="0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将工作文档、照片或重要资料直接保存到此文件夹中，系统将自动在后台完成同步，确保数据安全且在电脑、手机等多设备间实时更新。</a:t>
            </a:r>
            <a:endParaRPr lang="en-US" sz="1100"/>
          </a:p>
        </p:txBody>
      </p:sp>
      <p:pic>
        <p:nvPicPr>
          <p:cNvPr id="14" name="Picture 7">
            <a:extLst>
              <a:ext uri="{FF2B5EF4-FFF2-40B4-BE49-F238E27FC236}">
                <a16:creationId xmlns:a16="http://schemas.microsoft.com/office/drawing/2014/main" id="{561EB732-A551-79A6-2D76-9C7C7A148E2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922000" y="6337300"/>
            <a:ext cx="1270000" cy="50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499E2D08-E9B8-0113-FAC3-2015CB0F0E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7905" y="3261815"/>
            <a:ext cx="1587500" cy="121910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r>
              <a:rPr lang="en-US" altLang="zh-CN" dirty="0"/>
              <a:t> </a:t>
            </a:r>
            <a:endParaRPr dirty="0"/>
          </a:p>
        </p:txBody>
      </p:sp>
      <p:sp>
        <p:nvSpPr>
          <p:cNvPr id="3" name="AutoShape 3"/>
          <p:cNvSpPr/>
          <p:nvPr/>
        </p:nvSpPr>
        <p:spPr>
          <a:xfrm>
            <a:off x="762000" y="2044402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学会识别同步状态图标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2708424"/>
            <a:ext cx="1066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500" b="0" i="0" u="none" strike="noStrike" dirty="0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OneDrive 会在文件或文件夹图标的右下角显示不同的状态标识，这些标识就像“信号灯”一样，直观反映文件的同步情况。理解并识别这些图标，能帮助我们更高效地管理云端与本地文件，避免因同步问题导致的数据丢失或误操作。</a:t>
            </a:r>
            <a:endParaRPr lang="en-US" sz="1100" dirty="0"/>
          </a:p>
        </p:txBody>
      </p:sp>
      <p:pic>
        <p:nvPicPr>
          <p:cNvPr id="24" name="Picture 7">
            <a:extLst>
              <a:ext uri="{FF2B5EF4-FFF2-40B4-BE49-F238E27FC236}">
                <a16:creationId xmlns:a16="http://schemas.microsoft.com/office/drawing/2014/main" id="{E1D2EF1E-9330-7D74-24E3-F388B62F3B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922000" y="6337300"/>
            <a:ext cx="1270000" cy="50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1" name="图片 30" descr="“OneDrive for Business 正在同步”图标">
            <a:extLst>
              <a:ext uri="{FF2B5EF4-FFF2-40B4-BE49-F238E27FC236}">
                <a16:creationId xmlns:a16="http://schemas.microsoft.com/office/drawing/2014/main" id="{9A9F8DD3-BD80-3A34-0082-4E2453EBC0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3233" y="4141905"/>
            <a:ext cx="1143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图片 32" descr="OneDrive for Business 同步错误图标">
            <a:extLst>
              <a:ext uri="{FF2B5EF4-FFF2-40B4-BE49-F238E27FC236}">
                <a16:creationId xmlns:a16="http://schemas.microsoft.com/office/drawing/2014/main" id="{461D2E63-9466-80D4-40A9-8828C37E16C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3365" y="4141905"/>
            <a:ext cx="1143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图片 33" descr="OneDrive for Business 暂停图标">
            <a:extLst>
              <a:ext uri="{FF2B5EF4-FFF2-40B4-BE49-F238E27FC236}">
                <a16:creationId xmlns:a16="http://schemas.microsoft.com/office/drawing/2014/main" id="{87A3F917-9D40-70C1-936C-67BD03D3E19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3497" y="4141905"/>
            <a:ext cx="1143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B85253EB-A1DE-CC8A-56CA-4B9EF7B360F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29364" y="4141905"/>
            <a:ext cx="290705" cy="305240"/>
          </a:xfrm>
          <a:prstGeom prst="rect">
            <a:avLst/>
          </a:prstGeom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0F45D363-6693-1030-86F0-C0996B21E79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01144" y="4141465"/>
            <a:ext cx="290705" cy="305240"/>
          </a:xfrm>
          <a:prstGeom prst="rect">
            <a:avLst/>
          </a:prstGeom>
        </p:spPr>
      </p:pic>
      <p:pic>
        <p:nvPicPr>
          <p:cNvPr id="37" name="图片 36" descr="OneDrive 始终可用的文件图标">
            <a:extLst>
              <a:ext uri="{FF2B5EF4-FFF2-40B4-BE49-F238E27FC236}">
                <a16:creationId xmlns:a16="http://schemas.microsoft.com/office/drawing/2014/main" id="{1841B8A5-B51B-3B6B-D748-41BA0E59F6B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1276" y="4141465"/>
            <a:ext cx="114300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稳定状态：文件已就绪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3429000" cy="3429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12700" cap="flat" cmpd="sng">
            <a:solidFill>
              <a:srgbClr val="0078D4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 t="2380" b="2380"/>
          <a:stretch>
            <a:fillRect/>
          </a:stretch>
        </p:blipFill>
        <p:spPr>
          <a:xfrm>
            <a:off x="1016000" y="2286000"/>
            <a:ext cx="609600" cy="609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1778000" y="23368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已同步到本地</a:t>
            </a:r>
            <a:endParaRPr lang="en-US" sz="1100" dirty="0"/>
          </a:p>
        </p:txBody>
      </p:sp>
      <p:cxnSp>
        <p:nvCxnSpPr>
          <p:cNvPr id="7" name="Connector 7"/>
          <p:cNvCxnSpPr/>
          <p:nvPr/>
        </p:nvCxnSpPr>
        <p:spPr>
          <a:xfrm rot="-14946">
            <a:off x="1016014" y="3168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78D4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34290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 dirty="0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文件已成功下载到电脑硬盘，内容与云端一致。</a:t>
            </a:r>
            <a:r>
              <a:rPr lang="en-US" sz="1400" b="1" i="0" u="none" strike="noStrike" dirty="0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离线也可打开编辑</a:t>
            </a:r>
            <a:r>
              <a:rPr lang="en-US" sz="1400" b="0" i="0" u="none" strike="noStrike" dirty="0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，随时访问最新版本。</a:t>
            </a:r>
            <a:endParaRPr lang="en-US" sz="1100" dirty="0"/>
          </a:p>
        </p:txBody>
      </p:sp>
      <p:sp>
        <p:nvSpPr>
          <p:cNvPr id="9" name="AutoShape 9"/>
          <p:cNvSpPr/>
          <p:nvPr/>
        </p:nvSpPr>
        <p:spPr>
          <a:xfrm>
            <a:off x="1016000" y="4419600"/>
            <a:ext cx="2921000" cy="762000"/>
          </a:xfrm>
          <a:prstGeom prst="roundRect">
            <a:avLst>
              <a:gd name="adj" fmla="val 0"/>
            </a:avLst>
          </a:prstGeom>
          <a:solidFill>
            <a:srgbClr val="0078D4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1143000" y="4533900"/>
            <a:ext cx="2667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 dirty="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操作建议：如需释放空间，右键文件选择“</a:t>
            </a:r>
            <a:r>
              <a:rPr lang="en-US" sz="1200" b="0" i="0" u="none" strike="noStrike" dirty="0" err="1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释放空间</a:t>
            </a:r>
            <a:r>
              <a:rPr lang="en-US" sz="1200" b="0" i="0" u="none" strike="noStrike" dirty="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”，</a:t>
            </a:r>
            <a:r>
              <a:rPr lang="en-US" sz="1200" b="0" i="0" u="none" strike="noStrike" dirty="0" err="1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即可转为仅在线可用</a:t>
            </a:r>
            <a:r>
              <a:rPr lang="en-US" sz="1200" b="0" i="0" u="none" strike="noStrike" dirty="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1" name="AutoShape 11"/>
          <p:cNvSpPr/>
          <p:nvPr/>
        </p:nvSpPr>
        <p:spPr>
          <a:xfrm>
            <a:off x="4381500" y="2032000"/>
            <a:ext cx="3429000" cy="3429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12700" cap="flat" cmpd="sng">
            <a:solidFill>
              <a:srgbClr val="0078D4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5397500" y="23368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始终保留在此设备上</a:t>
            </a:r>
            <a:endParaRPr lang="en-US" sz="1100" dirty="0"/>
          </a:p>
        </p:txBody>
      </p:sp>
      <p:cxnSp>
        <p:nvCxnSpPr>
          <p:cNvPr id="14" name="Connector 14"/>
          <p:cNvCxnSpPr/>
          <p:nvPr/>
        </p:nvCxnSpPr>
        <p:spPr>
          <a:xfrm rot="-14946">
            <a:off x="4635514" y="3168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78D4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635500" y="34290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 dirty="0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文件被标记为“</a:t>
            </a:r>
            <a:r>
              <a:rPr lang="en-US" sz="1400" b="0" i="0" u="none" strike="noStrike" dirty="0" err="1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始终可用</a:t>
            </a:r>
            <a:r>
              <a:rPr lang="en-US" sz="1400" b="0" i="0" u="none" strike="noStrike" dirty="0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”，</a:t>
            </a:r>
            <a:r>
              <a:rPr lang="en-US" sz="1400" b="0" i="0" u="none" strike="noStrike" dirty="0" err="1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长期驻留本地硬盘。</a:t>
            </a:r>
            <a:r>
              <a:rPr lang="en-US" sz="1400" b="1" i="0" u="none" strike="noStrike" dirty="0" err="1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即使离线也能快速访问</a:t>
            </a:r>
            <a:r>
              <a:rPr lang="en-US" sz="1400" b="0" i="0" u="none" strike="noStrike" dirty="0" err="1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，无需等待下载</a:t>
            </a:r>
            <a:r>
              <a:rPr lang="en-US" sz="1400" b="0" i="0" u="none" strike="noStrike" dirty="0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6" name="AutoShape 16"/>
          <p:cNvSpPr/>
          <p:nvPr/>
        </p:nvSpPr>
        <p:spPr>
          <a:xfrm>
            <a:off x="4635500" y="4432300"/>
            <a:ext cx="2921000" cy="762000"/>
          </a:xfrm>
          <a:prstGeom prst="roundRect">
            <a:avLst>
              <a:gd name="adj" fmla="val 0"/>
            </a:avLst>
          </a:prstGeom>
          <a:solidFill>
            <a:srgbClr val="0078D4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4762500" y="4542637"/>
            <a:ext cx="2667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 dirty="0" err="1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操作建议：不再需要长期离线访问时，右键选择“仅在线可用”以释放存储</a:t>
            </a:r>
            <a:r>
              <a:rPr lang="en-US" sz="1200" b="0" i="0" u="none" strike="noStrike" dirty="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8" name="AutoShape 18"/>
          <p:cNvSpPr/>
          <p:nvPr/>
        </p:nvSpPr>
        <p:spPr>
          <a:xfrm>
            <a:off x="8001000" y="2032000"/>
            <a:ext cx="3429000" cy="3429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12700" cap="flat" cmpd="sng">
            <a:solidFill>
              <a:srgbClr val="0078D4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4"/>
          <a:srcRect l="14754" r="14754"/>
          <a:stretch>
            <a:fillRect/>
          </a:stretch>
        </p:blipFill>
        <p:spPr>
          <a:xfrm>
            <a:off x="8255000" y="2286000"/>
            <a:ext cx="609600" cy="609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0" name="AutoShape 20"/>
          <p:cNvSpPr/>
          <p:nvPr/>
        </p:nvSpPr>
        <p:spPr>
          <a:xfrm>
            <a:off x="9017000" y="23368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仅在线可用</a:t>
            </a:r>
            <a:endParaRPr lang="en-US" sz="1100" dirty="0"/>
          </a:p>
        </p:txBody>
      </p:sp>
      <p:cxnSp>
        <p:nvCxnSpPr>
          <p:cNvPr id="21" name="Connector 21"/>
          <p:cNvCxnSpPr/>
          <p:nvPr/>
        </p:nvCxnSpPr>
        <p:spPr>
          <a:xfrm rot="-14946">
            <a:off x="8255014" y="3168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78D4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8255000" y="34290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 dirty="0" err="1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文件仅完整保存在云端，本地仅保留占位符，</a:t>
            </a:r>
            <a:r>
              <a:rPr lang="en-US" sz="1400" b="1" i="0" u="none" strike="noStrike" dirty="0" err="1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不占用磁盘空间</a:t>
            </a:r>
            <a:r>
              <a:rPr lang="en-US" sz="1400" b="0" i="0" u="none" strike="noStrike" dirty="0" err="1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，有效节省本地存储资源</a:t>
            </a:r>
            <a:r>
              <a:rPr lang="en-US" sz="1400" b="0" i="0" u="none" strike="noStrike" dirty="0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23" name="AutoShape 23"/>
          <p:cNvSpPr/>
          <p:nvPr/>
        </p:nvSpPr>
        <p:spPr>
          <a:xfrm>
            <a:off x="8255000" y="4472276"/>
            <a:ext cx="2921000" cy="762000"/>
          </a:xfrm>
          <a:prstGeom prst="roundRect">
            <a:avLst>
              <a:gd name="adj" fmla="val 0"/>
            </a:avLst>
          </a:prstGeom>
          <a:solidFill>
            <a:srgbClr val="0078D4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8382000" y="4603750"/>
            <a:ext cx="2667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 dirty="0" err="1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操作建议：双击即临时下载打开；如需长期使用，右键选择“始终保留在此设备上</a:t>
            </a:r>
            <a:r>
              <a:rPr lang="en-US" sz="1200" b="0" i="0" u="none" strike="noStrike" dirty="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”。</a:t>
            </a:r>
            <a:endParaRPr lang="en-US" sz="1100" dirty="0"/>
          </a:p>
        </p:txBody>
      </p:sp>
      <p:pic>
        <p:nvPicPr>
          <p:cNvPr id="25" name="Picture 7">
            <a:extLst>
              <a:ext uri="{FF2B5EF4-FFF2-40B4-BE49-F238E27FC236}">
                <a16:creationId xmlns:a16="http://schemas.microsoft.com/office/drawing/2014/main" id="{EC313E24-862A-A893-1921-A1A91DC268C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0922000" y="6337300"/>
            <a:ext cx="1270000" cy="50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26" name="图片 25" descr="OneDrive 始终可用的文件图标">
            <a:extLst>
              <a:ext uri="{FF2B5EF4-FFF2-40B4-BE49-F238E27FC236}">
                <a16:creationId xmlns:a16="http://schemas.microsoft.com/office/drawing/2014/main" id="{EDA8689C-19CA-2315-AA6C-88458DAAD42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5500" y="2320444"/>
            <a:ext cx="2469767" cy="6586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动态状态：同步进行中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33782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0078D4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2032000" y="2286000"/>
            <a:ext cx="18542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正在同步中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5211">
            <a:off x="1016014" y="33464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78D4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3556000"/>
            <a:ext cx="28702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文件正在上传到云端或从云端下载到本地，这是OneDrive最常见的运行状态。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54100" y="4807078"/>
            <a:ext cx="2870200" cy="457200"/>
          </a:xfrm>
          <a:prstGeom prst="roundRect">
            <a:avLst>
              <a:gd name="adj" fmla="val 0"/>
            </a:avLst>
          </a:prstGeom>
          <a:solidFill>
            <a:srgbClr val="0078D4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1181100" y="4883278"/>
            <a:ext cx="2743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 dirty="0" err="1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操作：请耐心等待，切勿中断网络</a:t>
            </a:r>
            <a:r>
              <a:rPr lang="en-US" sz="1300" b="1" i="0" u="none" strike="noStrike" dirty="0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1" name="AutoShape 11"/>
          <p:cNvSpPr/>
          <p:nvPr/>
        </p:nvSpPr>
        <p:spPr>
          <a:xfrm>
            <a:off x="4394200" y="2032000"/>
            <a:ext cx="33782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0078D4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5664200" y="2286000"/>
            <a:ext cx="18542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后台同步中</a:t>
            </a:r>
            <a:endParaRPr lang="en-US" sz="1100" dirty="0"/>
          </a:p>
        </p:txBody>
      </p:sp>
      <p:cxnSp>
        <p:nvCxnSpPr>
          <p:cNvPr id="14" name="Connector 14"/>
          <p:cNvCxnSpPr/>
          <p:nvPr/>
        </p:nvCxnSpPr>
        <p:spPr>
          <a:xfrm rot="-15211">
            <a:off x="4648214" y="33464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78D4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648200" y="3556000"/>
            <a:ext cx="28702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常见于任务栏通知区域的状态图标，表示OneDrive正在后台自动处理文件的上传与下载流程。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648200" y="4807078"/>
            <a:ext cx="2870200" cy="457200"/>
          </a:xfrm>
          <a:prstGeom prst="roundRect">
            <a:avLst>
              <a:gd name="adj" fmla="val 0"/>
            </a:avLst>
          </a:prstGeom>
          <a:solidFill>
            <a:srgbClr val="0078D4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4775200" y="4874243"/>
            <a:ext cx="2743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>
              <a:lnSpc>
                <a:spcPct val="125000"/>
              </a:lnSpc>
              <a:defRPr/>
            </a:pPr>
            <a:r>
              <a:rPr lang="en-US" sz="1300" b="1" i="0" u="none" strike="noStrike" dirty="0" err="1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操作：保持客户端运行即可</a:t>
            </a:r>
            <a:r>
              <a:rPr lang="en-US" sz="1300" b="1" i="0" u="none" strike="noStrike" dirty="0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8" name="AutoShape 18"/>
          <p:cNvSpPr/>
          <p:nvPr/>
        </p:nvSpPr>
        <p:spPr>
          <a:xfrm>
            <a:off x="8026400" y="2032000"/>
            <a:ext cx="33782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0078D4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3"/>
          <a:srcRect l="36666" r="36666"/>
          <a:stretch>
            <a:fillRect/>
          </a:stretch>
        </p:blipFill>
        <p:spPr>
          <a:xfrm>
            <a:off x="8280400" y="2286000"/>
            <a:ext cx="812800" cy="812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0" name="AutoShape 20"/>
          <p:cNvSpPr/>
          <p:nvPr/>
        </p:nvSpPr>
        <p:spPr>
          <a:xfrm>
            <a:off x="9296400" y="2286000"/>
            <a:ext cx="18542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同步已暂停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15211">
            <a:off x="8280414" y="33464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78D4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8280400" y="3556000"/>
            <a:ext cx="28702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文件当前未在同步，可能是手动暂停或网络异常导致。此时云端与本地文件可能不一致。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280400" y="4807078"/>
            <a:ext cx="2870200" cy="457200"/>
          </a:xfrm>
          <a:prstGeom prst="roundRect">
            <a:avLst>
              <a:gd name="adj" fmla="val 0"/>
            </a:avLst>
          </a:prstGeom>
          <a:solidFill>
            <a:srgbClr val="0078D4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8343900" y="4883278"/>
            <a:ext cx="2743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 dirty="0" err="1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操作：点击图标</a:t>
            </a:r>
            <a:r>
              <a:rPr lang="en-US" sz="1300" b="1" i="0" u="none" strike="noStrike" dirty="0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 → </a:t>
            </a:r>
            <a:r>
              <a:rPr lang="en-US" sz="1300" b="1" i="0" u="none" strike="noStrike" dirty="0" err="1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更多</a:t>
            </a:r>
            <a:r>
              <a:rPr lang="en-US" sz="1300" b="1" i="0" u="none" strike="noStrike" dirty="0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 → </a:t>
            </a:r>
            <a:r>
              <a:rPr lang="en-US" sz="1300" b="1" i="0" u="none" strike="noStrike" dirty="0" err="1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恢复同步</a:t>
            </a:r>
            <a:endParaRPr lang="en-US" sz="1100" dirty="0"/>
          </a:p>
        </p:txBody>
      </p:sp>
      <p:sp>
        <p:nvSpPr>
          <p:cNvPr id="25" name="AutoShape 25"/>
          <p:cNvSpPr/>
          <p:nvPr/>
        </p:nvSpPr>
        <p:spPr>
          <a:xfrm>
            <a:off x="762000" y="5969000"/>
            <a:ext cx="10668000" cy="558800"/>
          </a:xfrm>
          <a:prstGeom prst="roundRect">
            <a:avLst>
              <a:gd name="adj" fmla="val 0"/>
            </a:avLst>
          </a:prstGeom>
          <a:solidFill>
            <a:srgbClr val="0078D4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889000" y="6070600"/>
            <a:ext cx="1041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提示：若长时间未完成同步，建议检查网络连接状态，或查看OneDrive活动中心的详细错误报告。</a:t>
            </a:r>
            <a:endParaRPr lang="en-US" sz="1100"/>
          </a:p>
        </p:txBody>
      </p:sp>
      <p:pic>
        <p:nvPicPr>
          <p:cNvPr id="27" name="Picture 7">
            <a:extLst>
              <a:ext uri="{FF2B5EF4-FFF2-40B4-BE49-F238E27FC236}">
                <a16:creationId xmlns:a16="http://schemas.microsoft.com/office/drawing/2014/main" id="{70FAC5AE-E337-B892-BCAF-B82F198B78E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922000" y="6337300"/>
            <a:ext cx="1270000" cy="50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28" name="图片 27" descr="“OneDrive 同步正在进行”图标">
            <a:extLst>
              <a:ext uri="{FF2B5EF4-FFF2-40B4-BE49-F238E27FC236}">
                <a16:creationId xmlns:a16="http://schemas.microsoft.com/office/drawing/2014/main" id="{4A0AD453-FB4B-75C1-B382-A9275C1C03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8031" y="2521504"/>
            <a:ext cx="1545735" cy="4121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图片 28" descr="“OneDrive for Business 正在同步”图标">
            <a:extLst>
              <a:ext uri="{FF2B5EF4-FFF2-40B4-BE49-F238E27FC236}">
                <a16:creationId xmlns:a16="http://schemas.microsoft.com/office/drawing/2014/main" id="{31A10C60-902A-0A60-D488-95C00A48F85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2700" y="2590800"/>
            <a:ext cx="1143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图片 29" descr="OneDrive for Business 暂停图标">
            <a:extLst>
              <a:ext uri="{FF2B5EF4-FFF2-40B4-BE49-F238E27FC236}">
                <a16:creationId xmlns:a16="http://schemas.microsoft.com/office/drawing/2014/main" id="{0B4CF0FE-078A-3612-FECA-BD87C1F233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6800" y="2575202"/>
            <a:ext cx="114300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异常状态：需要您的关注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429000" cy="3937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0078D4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905000" y="2095500"/>
            <a:ext cx="203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同步失败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4946">
            <a:off x="1016014" y="3041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43A40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3238500"/>
            <a:ext cx="2921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文件未同步成功，</a:t>
            </a:r>
            <a:r>
              <a:rPr lang="en-US" sz="1400" b="1" i="0" u="none" strike="noStrike">
                <a:solidFill>
                  <a:srgbClr val="D93025"/>
                </a:solidFill>
                <a:latin typeface="Noto Sans SC"/>
                <a:ea typeface="Noto Sans SC"/>
                <a:cs typeface="Noto Sans SC"/>
                <a:sym typeface="Noto Sans SC"/>
              </a:rPr>
              <a:t>存在数据丢失风险。</a:t>
            </a:r>
            <a:r>
              <a:rPr lang="en-US" sz="14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这是最严重的异常情况，意味着本地修改可能无法被云端保存。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143000" y="4584700"/>
            <a:ext cx="266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 dirty="0" err="1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立即处理：</a:t>
            </a:r>
            <a:r>
              <a:rPr lang="en-US" sz="1300" b="0" i="0" u="none" strike="noStrike" dirty="0" err="1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查看任务栏OneDrive活动中心错误提示</a:t>
            </a:r>
            <a:r>
              <a:rPr lang="en-US" sz="1300" b="0" i="0" u="none" strike="noStrike" dirty="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1" name="AutoShape 11"/>
          <p:cNvSpPr/>
          <p:nvPr/>
        </p:nvSpPr>
        <p:spPr>
          <a:xfrm>
            <a:off x="4381500" y="1778000"/>
            <a:ext cx="3429000" cy="3937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0078D4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3" name="AutoShape 13"/>
          <p:cNvSpPr/>
          <p:nvPr/>
        </p:nvSpPr>
        <p:spPr>
          <a:xfrm>
            <a:off x="5524500" y="2095500"/>
            <a:ext cx="203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D9730D"/>
                </a:solidFill>
                <a:latin typeface="Noto Sans SC"/>
                <a:ea typeface="Noto Sans SC"/>
                <a:cs typeface="Noto Sans SC"/>
                <a:sym typeface="Noto Sans SC"/>
              </a:rPr>
              <a:t>同步警告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4946">
            <a:off x="4635514" y="3041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43A40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635500" y="3238500"/>
            <a:ext cx="2921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 dirty="0" err="1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通常由多人同时修改同一文件引发冲突，或文件权限设置不正确导致。系统暂存了本地版本，需人工介入协调</a:t>
            </a:r>
            <a:r>
              <a:rPr lang="en-US" sz="1400" b="0" i="0" u="none" strike="noStrike" dirty="0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6" name="AutoShape 16"/>
          <p:cNvSpPr/>
          <p:nvPr/>
        </p:nvSpPr>
        <p:spPr>
          <a:xfrm>
            <a:off x="4635500" y="4508500"/>
            <a:ext cx="2921000" cy="508000"/>
          </a:xfrm>
          <a:prstGeom prst="roundRect">
            <a:avLst>
              <a:gd name="adj" fmla="val 0"/>
            </a:avLst>
          </a:prstGeom>
          <a:solidFill>
            <a:srgbClr val="D9730D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4762500" y="4572852"/>
            <a:ext cx="266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 dirty="0" err="1">
                <a:solidFill>
                  <a:srgbClr val="D9730D"/>
                </a:solidFill>
                <a:latin typeface="Noto Sans SC"/>
                <a:ea typeface="Noto Sans SC"/>
                <a:cs typeface="Noto Sans SC"/>
                <a:sym typeface="Noto Sans SC"/>
              </a:rPr>
              <a:t>解决冲突：</a:t>
            </a:r>
            <a:r>
              <a:rPr lang="en-US" sz="1300" b="0" i="0" u="none" strike="noStrike" dirty="0" err="1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点击图标按向导保留正确版本后重传</a:t>
            </a:r>
            <a:r>
              <a:rPr lang="en-US" sz="1300" b="0" i="0" u="none" strike="noStrike" dirty="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8" name="AutoShape 18"/>
          <p:cNvSpPr/>
          <p:nvPr/>
        </p:nvSpPr>
        <p:spPr>
          <a:xfrm>
            <a:off x="8001000" y="1778000"/>
            <a:ext cx="3429000" cy="3937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0078D4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3"/>
          <a:srcRect l="36666" r="36666"/>
          <a:stretch>
            <a:fillRect/>
          </a:stretch>
        </p:blipFill>
        <p:spPr>
          <a:xfrm>
            <a:off x="8255000" y="2032000"/>
            <a:ext cx="762000" cy="76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0" name="AutoShape 20"/>
          <p:cNvSpPr/>
          <p:nvPr/>
        </p:nvSpPr>
        <p:spPr>
          <a:xfrm>
            <a:off x="9144000" y="2095500"/>
            <a:ext cx="203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未登录状态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14946">
            <a:off x="8255014" y="3041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43A40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8255000" y="3238500"/>
            <a:ext cx="2921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表示当前设备未登录OneDrive账号，或应用初始化设置尚未完成。此时所有文件均无法进行云端同步操作。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255000" y="4508500"/>
            <a:ext cx="2921000" cy="508000"/>
          </a:xfrm>
          <a:prstGeom prst="roundRect">
            <a:avLst>
              <a:gd name="adj" fmla="val 0"/>
            </a:avLst>
          </a:prstGeom>
          <a:solidFill>
            <a:srgbClr val="495057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8382000" y="4572852"/>
            <a:ext cx="266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 dirty="0" err="1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重新登录：</a:t>
            </a:r>
            <a:r>
              <a:rPr lang="en-US" sz="1300" b="0" i="0" u="none" strike="noStrike" dirty="0" err="1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Win键搜索OneDrive，打开应用完成账号登录</a:t>
            </a:r>
            <a:r>
              <a:rPr lang="en-US" sz="1300" b="0" i="0" u="none" strike="noStrike" dirty="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pic>
        <p:nvPicPr>
          <p:cNvPr id="25" name="Picture 7">
            <a:extLst>
              <a:ext uri="{FF2B5EF4-FFF2-40B4-BE49-F238E27FC236}">
                <a16:creationId xmlns:a16="http://schemas.microsoft.com/office/drawing/2014/main" id="{15F949B3-33C3-4CF8-707A-953398D84B8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922000" y="6337300"/>
            <a:ext cx="1270000" cy="50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26" name="图片 25" descr="OneDrive 同步错误图标">
            <a:extLst>
              <a:ext uri="{FF2B5EF4-FFF2-40B4-BE49-F238E27FC236}">
                <a16:creationId xmlns:a16="http://schemas.microsoft.com/office/drawing/2014/main" id="{BC04C2DA-A07E-2FB3-E0CE-DAA90F43810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577" y="2215147"/>
            <a:ext cx="1884949" cy="502653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AutoShape 9"/>
          <p:cNvSpPr/>
          <p:nvPr/>
        </p:nvSpPr>
        <p:spPr>
          <a:xfrm>
            <a:off x="1016000" y="4508500"/>
            <a:ext cx="2921000" cy="508000"/>
          </a:xfrm>
          <a:prstGeom prst="roundRect">
            <a:avLst>
              <a:gd name="adj" fmla="val 0"/>
            </a:avLst>
          </a:prstGeom>
          <a:solidFill>
            <a:srgbClr val="0078D4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pic>
        <p:nvPicPr>
          <p:cNvPr id="28" name="图片 27" descr="OneDrive 未运行图标">
            <a:extLst>
              <a:ext uri="{FF2B5EF4-FFF2-40B4-BE49-F238E27FC236}">
                <a16:creationId xmlns:a16="http://schemas.microsoft.com/office/drawing/2014/main" id="{0045655A-DBA4-F506-4197-D601756075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8770" y="2252759"/>
            <a:ext cx="1654729" cy="441261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6D8C62D8-AE47-D5CC-1FD8-703CFE117A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8290" y="2153438"/>
            <a:ext cx="499210" cy="5120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账户状态：关注整体健康度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除了单个文件的状态反馈，任务栏中的 OneDrive 图标还会直观反映整个账户的整体健康状态。通过识别图标上的警示标识，您可以快速定位账户问题并及时处理。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667000"/>
            <a:ext cx="5270500" cy="3611062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0078D4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 l="3260" r="3260"/>
          <a:stretch>
            <a:fillRect/>
          </a:stretch>
        </p:blipFill>
        <p:spPr>
          <a:xfrm>
            <a:off x="1390648" y="2874460"/>
            <a:ext cx="487245" cy="48724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2032000" y="2984500"/>
            <a:ext cx="368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账户需要注意</a:t>
            </a:r>
            <a:endParaRPr lang="en-US" sz="1100" dirty="0"/>
          </a:p>
        </p:txBody>
      </p:sp>
      <p:cxnSp>
        <p:nvCxnSpPr>
          <p:cNvPr id="8" name="Connector 8"/>
          <p:cNvCxnSpPr/>
          <p:nvPr/>
        </p:nvCxnSpPr>
        <p:spPr>
          <a:xfrm rot="-9167">
            <a:off x="1016008" y="3930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78D4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4127500"/>
            <a:ext cx="4762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 dirty="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当 OneDrive </a:t>
            </a:r>
            <a:r>
              <a:rPr lang="en-US" sz="1400" b="0" i="0" u="none" strike="noStrike" dirty="0" err="1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图标上出现黄色或红色感叹号时，表明您的账户存在需要关注的异常情况，例如存储空间不足、登录凭证过期或临时的网络连接问题</a:t>
            </a:r>
            <a:r>
              <a:rPr lang="en-US" sz="1400" b="0" i="0" u="none" strike="noStrike" dirty="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0" name="AutoShape 10"/>
          <p:cNvSpPr/>
          <p:nvPr/>
        </p:nvSpPr>
        <p:spPr>
          <a:xfrm>
            <a:off x="1016000" y="5334000"/>
            <a:ext cx="4762500" cy="508000"/>
          </a:xfrm>
          <a:prstGeom prst="roundRect">
            <a:avLst>
              <a:gd name="adj" fmla="val 0"/>
            </a:avLst>
          </a:prstGeom>
          <a:solidFill>
            <a:srgbClr val="0078D4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1143000" y="5397500"/>
            <a:ext cx="4508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 dirty="0" err="1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操作建议：</a:t>
            </a:r>
            <a:r>
              <a:rPr lang="en-US" sz="1300" b="0" i="0" u="none" strike="noStrike" dirty="0" err="1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点击任务栏图标，在活动中心查看具体警告并按提示解决</a:t>
            </a:r>
            <a:r>
              <a:rPr lang="en-US" sz="1300" b="0" i="0" u="none" strike="noStrike" dirty="0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2" name="AutoShape 12"/>
          <p:cNvSpPr/>
          <p:nvPr/>
        </p:nvSpPr>
        <p:spPr>
          <a:xfrm>
            <a:off x="6286500" y="2666999"/>
            <a:ext cx="5270500" cy="3611061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DC354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7556500" y="2984500"/>
            <a:ext cx="368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DC3545"/>
                </a:solidFill>
                <a:latin typeface="Noto Sans SC"/>
                <a:ea typeface="Noto Sans SC"/>
                <a:cs typeface="Noto Sans SC"/>
                <a:sym typeface="Noto Sans SC"/>
              </a:rPr>
              <a:t>无法同步文件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9167">
            <a:off x="6540508" y="3930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3545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6540500" y="4127500"/>
            <a:ext cx="4762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图标显示带白色叉号的红色圆圈，属于严重错误状态。这意味着 OneDrive 完全无法同步任何文件或文件夹，可能由关键配置错误、权限丢失或服务中断导致。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540500" y="5334000"/>
            <a:ext cx="4762500" cy="508000"/>
          </a:xfrm>
          <a:prstGeom prst="roundRect">
            <a:avLst>
              <a:gd name="adj" fmla="val 0"/>
            </a:avLst>
          </a:prstGeom>
          <a:solidFill>
            <a:srgbClr val="DC3545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6667500" y="5397500"/>
            <a:ext cx="4508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DC3545"/>
                </a:solidFill>
                <a:latin typeface="Noto Sans SC"/>
                <a:ea typeface="Noto Sans SC"/>
                <a:cs typeface="Noto Sans SC"/>
                <a:sym typeface="Noto Sans SC"/>
              </a:rPr>
              <a:t>操作建议：</a:t>
            </a:r>
            <a:r>
              <a:rPr lang="en-US" sz="13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立即查看错误详情，尝试修复；若无法解决，及时联系 IT 技术支持。</a:t>
            </a:r>
            <a:endParaRPr lang="en-US" sz="1100"/>
          </a:p>
        </p:txBody>
      </p:sp>
      <p:pic>
        <p:nvPicPr>
          <p:cNvPr id="19" name="Picture 7">
            <a:extLst>
              <a:ext uri="{FF2B5EF4-FFF2-40B4-BE49-F238E27FC236}">
                <a16:creationId xmlns:a16="http://schemas.microsoft.com/office/drawing/2014/main" id="{AFCC79DC-1581-C6ED-B19B-EC267D0485A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922000" y="6337300"/>
            <a:ext cx="1270000" cy="50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20" name="图片 19" descr="OneDrive for Business 同步错误图标">
            <a:extLst>
              <a:ext uri="{FF2B5EF4-FFF2-40B4-BE49-F238E27FC236}">
                <a16:creationId xmlns:a16="http://schemas.microsoft.com/office/drawing/2014/main" id="{C6D4A6D4-B678-77DF-3538-AB5A36C57D5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7261" y="3022601"/>
            <a:ext cx="2000246" cy="533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8F39E478-DA8D-2DF8-898E-9E77E97378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90649" y="3382461"/>
            <a:ext cx="487245" cy="5191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同步状态图标速查表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429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3429000" cy="50800"/>
          </a:xfrm>
          <a:prstGeom prst="roundRect">
            <a:avLst>
              <a:gd name="adj" fmla="val 0"/>
            </a:avLst>
          </a:prstGeom>
          <a:solidFill>
            <a:srgbClr val="0078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 t="2380" b="2380"/>
          <a:stretch>
            <a:fillRect/>
          </a:stretch>
        </p:blipFill>
        <p:spPr>
          <a:xfrm>
            <a:off x="1016000" y="2095500"/>
            <a:ext cx="762000" cy="76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2032000" y="2032000"/>
            <a:ext cx="762000" cy="304800"/>
          </a:xfrm>
          <a:prstGeom prst="roundRect">
            <a:avLst>
              <a:gd name="adj" fmla="val 0"/>
            </a:avLst>
          </a:prstGeom>
          <a:solidFill>
            <a:srgbClr val="0078D4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2032000" y="2057400"/>
            <a:ext cx="76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稳定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2032000" y="2540000"/>
            <a:ext cx="1968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已同步到本地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文件已完全下载至设备，可在离线状态下访问和编辑。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4381500" y="1778000"/>
            <a:ext cx="3429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4381500" y="1778000"/>
            <a:ext cx="3429000" cy="50800"/>
          </a:xfrm>
          <a:prstGeom prst="roundRect">
            <a:avLst>
              <a:gd name="adj" fmla="val 0"/>
            </a:avLst>
          </a:prstGeom>
          <a:solidFill>
            <a:srgbClr val="0078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5651500" y="2032000"/>
            <a:ext cx="762000" cy="304800"/>
          </a:xfrm>
          <a:prstGeom prst="roundRect">
            <a:avLst>
              <a:gd name="adj" fmla="val 0"/>
            </a:avLst>
          </a:prstGeom>
          <a:solidFill>
            <a:srgbClr val="0078D4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5651500" y="2057400"/>
            <a:ext cx="76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稳定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5651500" y="2540000"/>
            <a:ext cx="1968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始终保留在此设备上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文件固定在本地存储中，即使空间不足也不会被自动删除。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8001000" y="1778000"/>
            <a:ext cx="3429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8001000" y="1778000"/>
            <a:ext cx="3429000" cy="50800"/>
          </a:xfrm>
          <a:prstGeom prst="roundRect">
            <a:avLst>
              <a:gd name="adj" fmla="val 0"/>
            </a:avLst>
          </a:prstGeom>
          <a:solidFill>
            <a:srgbClr val="0078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4"/>
          <a:srcRect l="14754" r="14754"/>
          <a:stretch>
            <a:fillRect/>
          </a:stretch>
        </p:blipFill>
        <p:spPr>
          <a:xfrm>
            <a:off x="8255000" y="2095500"/>
            <a:ext cx="762000" cy="76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9" name="AutoShape 19"/>
          <p:cNvSpPr/>
          <p:nvPr/>
        </p:nvSpPr>
        <p:spPr>
          <a:xfrm>
            <a:off x="9271000" y="2032000"/>
            <a:ext cx="762000" cy="304800"/>
          </a:xfrm>
          <a:prstGeom prst="roundRect">
            <a:avLst>
              <a:gd name="adj" fmla="val 0"/>
            </a:avLst>
          </a:prstGeom>
          <a:solidFill>
            <a:srgbClr val="0078D4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9271000" y="2057400"/>
            <a:ext cx="76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稳定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9271000" y="2540000"/>
            <a:ext cx="1968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仅在线可用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文件仅存储在云端，节省本地空间，需联网才能访问内容。</a:t>
            </a:r>
          </a:p>
        </p:txBody>
      </p:sp>
      <p:sp>
        <p:nvSpPr>
          <p:cNvPr id="22" name="AutoShape 22"/>
          <p:cNvSpPr/>
          <p:nvPr/>
        </p:nvSpPr>
        <p:spPr>
          <a:xfrm>
            <a:off x="762000" y="4191000"/>
            <a:ext cx="3429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762000" y="4191000"/>
            <a:ext cx="3429000" cy="50800"/>
          </a:xfrm>
          <a:prstGeom prst="roundRect">
            <a:avLst>
              <a:gd name="adj" fmla="val 0"/>
            </a:avLst>
          </a:prstGeom>
          <a:solidFill>
            <a:srgbClr val="0078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2032000" y="4445000"/>
            <a:ext cx="762000" cy="304800"/>
          </a:xfrm>
          <a:prstGeom prst="roundRect">
            <a:avLst>
              <a:gd name="adj" fmla="val 0"/>
            </a:avLst>
          </a:prstGeom>
          <a:solidFill>
            <a:srgbClr val="0078D4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2032000" y="4470400"/>
            <a:ext cx="76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动态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2032000" y="4953000"/>
            <a:ext cx="1968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正在同步中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文件正在与云端进行数据传输，请勿中断网络连接。</a:t>
            </a:r>
          </a:p>
        </p:txBody>
      </p:sp>
      <p:sp>
        <p:nvSpPr>
          <p:cNvPr id="28" name="AutoShape 28"/>
          <p:cNvSpPr/>
          <p:nvPr/>
        </p:nvSpPr>
        <p:spPr>
          <a:xfrm>
            <a:off x="4381500" y="4191000"/>
            <a:ext cx="3429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29"/>
          <p:cNvSpPr/>
          <p:nvPr/>
        </p:nvSpPr>
        <p:spPr>
          <a:xfrm>
            <a:off x="4381500" y="4191000"/>
            <a:ext cx="3429000" cy="50800"/>
          </a:xfrm>
          <a:prstGeom prst="roundRect">
            <a:avLst>
              <a:gd name="adj" fmla="val 0"/>
            </a:avLst>
          </a:prstGeom>
          <a:solidFill>
            <a:srgbClr val="0078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31"/>
          <p:cNvSpPr/>
          <p:nvPr/>
        </p:nvSpPr>
        <p:spPr>
          <a:xfrm>
            <a:off x="5651500" y="4445000"/>
            <a:ext cx="762000" cy="304800"/>
          </a:xfrm>
          <a:prstGeom prst="roundRect">
            <a:avLst>
              <a:gd name="adj" fmla="val 0"/>
            </a:avLst>
          </a:prstGeom>
          <a:solidFill>
            <a:srgbClr val="0078D4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AutoShape 32"/>
          <p:cNvSpPr/>
          <p:nvPr/>
        </p:nvSpPr>
        <p:spPr>
          <a:xfrm>
            <a:off x="5651500" y="4470400"/>
            <a:ext cx="76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动态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5651500" y="4953000"/>
            <a:ext cx="1968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同步已暂停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同步任务已被手动或系统原因暂停，可在设置中恢复传输。</a:t>
            </a:r>
          </a:p>
        </p:txBody>
      </p:sp>
      <p:sp>
        <p:nvSpPr>
          <p:cNvPr id="34" name="AutoShape 34"/>
          <p:cNvSpPr/>
          <p:nvPr/>
        </p:nvSpPr>
        <p:spPr>
          <a:xfrm>
            <a:off x="8001000" y="4191000"/>
            <a:ext cx="3429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" name="AutoShape 35"/>
          <p:cNvSpPr/>
          <p:nvPr/>
        </p:nvSpPr>
        <p:spPr>
          <a:xfrm>
            <a:off x="8001000" y="4191000"/>
            <a:ext cx="3429000" cy="50800"/>
          </a:xfrm>
          <a:prstGeom prst="roundRect">
            <a:avLst>
              <a:gd name="adj" fmla="val 0"/>
            </a:avLst>
          </a:prstGeom>
          <a:solidFill>
            <a:srgbClr val="DC354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7" name="AutoShape 37"/>
          <p:cNvSpPr/>
          <p:nvPr/>
        </p:nvSpPr>
        <p:spPr>
          <a:xfrm>
            <a:off x="9271000" y="4445000"/>
            <a:ext cx="762000" cy="304800"/>
          </a:xfrm>
          <a:prstGeom prst="roundRect">
            <a:avLst>
              <a:gd name="adj" fmla="val 0"/>
            </a:avLst>
          </a:prstGeom>
          <a:solidFill>
            <a:srgbClr val="DC3545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8" name="AutoShape 38"/>
          <p:cNvSpPr/>
          <p:nvPr/>
        </p:nvSpPr>
        <p:spPr>
          <a:xfrm>
            <a:off x="9271000" y="4470400"/>
            <a:ext cx="76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DC3545"/>
                </a:solidFill>
                <a:latin typeface="Noto Sans SC"/>
                <a:ea typeface="Noto Sans SC"/>
                <a:cs typeface="Noto Sans SC"/>
                <a:sym typeface="Noto Sans SC"/>
              </a:rPr>
              <a:t>异常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9271000" y="4953000"/>
            <a:ext cx="1968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同步失败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文件传输出现错误，可能是网络问题或文件被占用，需重新尝试。</a:t>
            </a:r>
          </a:p>
        </p:txBody>
      </p:sp>
      <p:pic>
        <p:nvPicPr>
          <p:cNvPr id="40" name="Picture 7">
            <a:extLst>
              <a:ext uri="{FF2B5EF4-FFF2-40B4-BE49-F238E27FC236}">
                <a16:creationId xmlns:a16="http://schemas.microsoft.com/office/drawing/2014/main" id="{D694FFBE-80B4-EAD3-60C4-ABDC67AC1DD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0922000" y="6337300"/>
            <a:ext cx="1270000" cy="50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1" name="图片 40" descr="OneDrive 始终可用的文件图标">
            <a:extLst>
              <a:ext uri="{FF2B5EF4-FFF2-40B4-BE49-F238E27FC236}">
                <a16:creationId xmlns:a16="http://schemas.microsoft.com/office/drawing/2014/main" id="{51AAC994-F84C-97CD-63E9-A6A9CF33FFA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7250" y="2235200"/>
            <a:ext cx="257175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图片 42" descr="OneDrive for Business 暂停图标">
            <a:extLst>
              <a:ext uri="{FF2B5EF4-FFF2-40B4-BE49-F238E27FC236}">
                <a16:creationId xmlns:a16="http://schemas.microsoft.com/office/drawing/2014/main" id="{C490D8E8-45B7-8628-CE1B-108130FA3F1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7255" y="4864100"/>
            <a:ext cx="1524000" cy="40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图片 43" descr="“OneDrive for Business 正在同步”图标">
            <a:extLst>
              <a:ext uri="{FF2B5EF4-FFF2-40B4-BE49-F238E27FC236}">
                <a16:creationId xmlns:a16="http://schemas.microsoft.com/office/drawing/2014/main" id="{FFCF728A-A5C9-9862-8513-0942713B46C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2959" y="4888307"/>
            <a:ext cx="1706403" cy="455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图片 44" descr="OneDrive for Business 同步错误图标">
            <a:extLst>
              <a:ext uri="{FF2B5EF4-FFF2-40B4-BE49-F238E27FC236}">
                <a16:creationId xmlns:a16="http://schemas.microsoft.com/office/drawing/2014/main" id="{88C76797-C472-DEB4-D036-AD1A07E6B46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3750" y="4838700"/>
            <a:ext cx="1619250" cy="43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常见问题</a:t>
            </a:r>
            <a:r>
              <a:rPr lang="en-US" sz="3200" b="1" i="0" u="none" strike="noStrike" dirty="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 1：登录时提示“账号或密码错误”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3429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12700" cap="flat" cmpd="sng">
            <a:solidFill>
              <a:srgbClr val="0078D4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3429000" cy="76200"/>
          </a:xfrm>
          <a:prstGeom prst="roundRect">
            <a:avLst>
              <a:gd name="adj" fmla="val 0"/>
            </a:avLst>
          </a:prstGeom>
          <a:solidFill>
            <a:srgbClr val="0078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413000"/>
            <a:ext cx="457200" cy="4572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87500" y="2387600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 dirty="0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01 </a:t>
            </a:r>
            <a:r>
              <a:rPr lang="en-US" sz="2000" b="1" i="0" u="none" strike="noStrike" dirty="0" err="1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确认账号类型</a:t>
            </a:r>
            <a:endParaRPr lang="en-US" sz="1100" dirty="0"/>
          </a:p>
        </p:txBody>
      </p:sp>
      <p:cxnSp>
        <p:nvCxnSpPr>
          <p:cNvPr id="8" name="Connector 8"/>
          <p:cNvCxnSpPr/>
          <p:nvPr/>
        </p:nvCxnSpPr>
        <p:spPr>
          <a:xfrm rot="-14946">
            <a:off x="1016014" y="3168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78D4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3429000"/>
            <a:ext cx="2921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 dirty="0" err="1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请务必确认输入的是公司邮箱，格式为</a:t>
            </a:r>
            <a:r>
              <a:rPr lang="en-US" sz="1400" b="1" i="0" u="none" strike="noStrike" dirty="0" err="1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XXX@jula.com</a:t>
            </a:r>
            <a:r>
              <a:rPr lang="en-US" sz="1400" b="0" i="0" u="none" strike="noStrike" dirty="0" err="1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。严禁使用个人邮箱（如</a:t>
            </a:r>
            <a:r>
              <a:rPr lang="en-US" sz="1400" b="0" i="0" u="none" strike="noStrike" dirty="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 @hotmail.com、@gmail.com </a:t>
            </a:r>
            <a:r>
              <a:rPr lang="en-US" sz="1400" b="0" i="0" u="none" strike="noStrike" dirty="0" err="1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等）进行登录，系统将无法识别非企业域名账号</a:t>
            </a:r>
            <a:r>
              <a:rPr lang="en-US" sz="1400" b="0" i="0" u="none" strike="noStrike" dirty="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0" name="AutoShape 10"/>
          <p:cNvSpPr/>
          <p:nvPr/>
        </p:nvSpPr>
        <p:spPr>
          <a:xfrm>
            <a:off x="4381500" y="2032000"/>
            <a:ext cx="3429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12700" cap="flat" cmpd="sng">
            <a:solidFill>
              <a:srgbClr val="0078D4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4381500" y="2032000"/>
            <a:ext cx="3429000" cy="76200"/>
          </a:xfrm>
          <a:prstGeom prst="roundRect">
            <a:avLst>
              <a:gd name="adj" fmla="val 0"/>
            </a:avLst>
          </a:prstGeom>
          <a:solidFill>
            <a:srgbClr val="0078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5500" y="2413000"/>
            <a:ext cx="457200" cy="4572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207000" y="2387600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 dirty="0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02 </a:t>
            </a:r>
            <a:r>
              <a:rPr lang="en-US" sz="2000" b="1" i="0" u="none" strike="noStrike" dirty="0" err="1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检查密码输入</a:t>
            </a:r>
            <a:endParaRPr lang="en-US" sz="1100" dirty="0"/>
          </a:p>
        </p:txBody>
      </p:sp>
      <p:cxnSp>
        <p:nvCxnSpPr>
          <p:cNvPr id="14" name="Connector 14"/>
          <p:cNvCxnSpPr/>
          <p:nvPr/>
        </p:nvCxnSpPr>
        <p:spPr>
          <a:xfrm rot="-14946">
            <a:off x="4635514" y="3168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78D4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635500" y="3429000"/>
            <a:ext cx="2921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 dirty="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登录密码区分大小写，请仔细核对键盘大小写锁定状态。同时确认密码符合公司规范：长度至少9位，且必须包含大小写字母与数字或特殊字符的组合，缺一不可。</a:t>
            </a:r>
            <a:endParaRPr lang="en-US" sz="1100" dirty="0"/>
          </a:p>
        </p:txBody>
      </p:sp>
      <p:sp>
        <p:nvSpPr>
          <p:cNvPr id="16" name="AutoShape 16"/>
          <p:cNvSpPr/>
          <p:nvPr/>
        </p:nvSpPr>
        <p:spPr>
          <a:xfrm>
            <a:off x="8001000" y="2032000"/>
            <a:ext cx="3429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12700" cap="flat" cmpd="sng">
            <a:solidFill>
              <a:srgbClr val="0078D4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8001000" y="2032000"/>
            <a:ext cx="3429000" cy="76200"/>
          </a:xfrm>
          <a:prstGeom prst="roundRect">
            <a:avLst>
              <a:gd name="adj" fmla="val 0"/>
            </a:avLst>
          </a:prstGeom>
          <a:solidFill>
            <a:srgbClr val="0078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55000" y="2413000"/>
            <a:ext cx="457200" cy="4572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8826500" y="2387600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 dirty="0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03 </a:t>
            </a:r>
            <a:r>
              <a:rPr lang="en-US" sz="2000" b="1" i="0" u="none" strike="noStrike" dirty="0" err="1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重置或解锁账号</a:t>
            </a:r>
            <a:endParaRPr lang="en-US" sz="1100" dirty="0"/>
          </a:p>
        </p:txBody>
      </p:sp>
      <p:cxnSp>
        <p:nvCxnSpPr>
          <p:cNvPr id="20" name="Connector 20"/>
          <p:cNvCxnSpPr/>
          <p:nvPr/>
        </p:nvCxnSpPr>
        <p:spPr>
          <a:xfrm rot="-14946">
            <a:off x="8255014" y="3168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78D4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8255000" y="3429000"/>
            <a:ext cx="2921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 dirty="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若遗忘密码，可点击登录页“忘记密码”按提示流程重置。若因多次输错导致账号锁定，请直接联系IT技术支持部门协助解锁，通常处理时效为1个工作日内。</a:t>
            </a:r>
            <a:endParaRPr lang="en-US" sz="1100" dirty="0"/>
          </a:p>
        </p:txBody>
      </p:sp>
      <p:sp>
        <p:nvSpPr>
          <p:cNvPr id="22" name="AutoShape 22"/>
          <p:cNvSpPr/>
          <p:nvPr/>
        </p:nvSpPr>
        <p:spPr>
          <a:xfrm>
            <a:off x="762000" y="5905500"/>
            <a:ext cx="10668000" cy="635000"/>
          </a:xfrm>
          <a:prstGeom prst="roundRect">
            <a:avLst>
              <a:gd name="adj" fmla="val 0"/>
            </a:avLst>
          </a:prstGeom>
          <a:solidFill>
            <a:srgbClr val="0078D4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952500" y="6007100"/>
            <a:ext cx="10287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 dirty="0" err="1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提示：若以上步骤均无法解决问题，请</a:t>
            </a:r>
            <a:r>
              <a:rPr lang="zh-CN" altLang="en-US" sz="1400" b="0" i="0" u="none" strike="noStrike" dirty="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提交</a:t>
            </a:r>
            <a:r>
              <a:rPr lang="en-US" altLang="zh-CN" sz="1400" b="0" i="0" u="none" strike="noStrike" dirty="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Jira Ticket</a:t>
            </a:r>
            <a:r>
              <a:rPr lang="zh-CN" altLang="en-US" sz="1400" b="0" i="0" u="none" strike="noStrike" dirty="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，联系</a:t>
            </a:r>
            <a:r>
              <a:rPr lang="en-US" sz="1400" b="0" i="0" u="none" strike="noStrike" dirty="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IT</a:t>
            </a:r>
            <a:r>
              <a:rPr lang="zh-CN" altLang="en-US" sz="1400" b="0" i="0" u="none" strike="noStrike" dirty="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支持</a:t>
            </a:r>
            <a:r>
              <a:rPr lang="en-US" sz="1400" b="0" i="0" u="none" strike="noStrike" dirty="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</p:spTree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常见问题 2：同步一直卡在 "正在同步" 状态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如果文件长时间显示“正在同步”但没有进展，通常是网络、客户端或文件本身的原因导致，可按以下步骤逐一排查解决：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92">
            <a:off x="762004" y="2660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78D4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762000" y="3175000"/>
            <a:ext cx="33782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0078D4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762000" y="3175000"/>
            <a:ext cx="3378200" cy="50800"/>
          </a:xfrm>
          <a:prstGeom prst="roundRect">
            <a:avLst>
              <a:gd name="adj" fmla="val 0"/>
            </a:avLst>
          </a:prstGeom>
          <a:solidFill>
            <a:srgbClr val="0078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34290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549400" y="3403600"/>
            <a:ext cx="2413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01. 检查网络连接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15211">
            <a:off x="1016014" y="4121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43A40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1016000" y="4318000"/>
            <a:ext cx="28702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确保电脑网络连接稳定，尝试切换网络环境（如从WiFi切至有线网），或断开并重新连接VPN，排除网络链路异常干扰。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394200" y="3175000"/>
            <a:ext cx="33782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0078D4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4394200" y="3175000"/>
            <a:ext cx="3378200" cy="50800"/>
          </a:xfrm>
          <a:prstGeom prst="roundRect">
            <a:avLst>
              <a:gd name="adj" fmla="val 0"/>
            </a:avLst>
          </a:prstGeom>
          <a:solidFill>
            <a:srgbClr val="0078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8200" y="34290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5181600" y="3403600"/>
            <a:ext cx="2413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02. 重启OneDrive客户端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15211">
            <a:off x="4648214" y="4121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43A40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4648200" y="4318000"/>
            <a:ext cx="28702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右键点击任务栏OneDrive图标选择“关闭OneDrive”，再从开始菜单重新启动客户端，重置进程以修复临时的程序响应异常。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026400" y="3175000"/>
            <a:ext cx="33782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0078D4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8026400" y="3175000"/>
            <a:ext cx="3378200" cy="50800"/>
          </a:xfrm>
          <a:prstGeom prst="roundRect">
            <a:avLst>
              <a:gd name="adj" fmla="val 0"/>
            </a:avLst>
          </a:prstGeom>
          <a:solidFill>
            <a:srgbClr val="0078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80400" y="34290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8813800" y="3403600"/>
            <a:ext cx="2413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03. 检查并拆分大文件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15211">
            <a:off x="8280414" y="4121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43A40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8280400" y="4318000"/>
            <a:ext cx="28702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若同步单个大于1GB的超大文件，极易引发超时或失败。建议先将大文件拆分为多个小文件，再分批上传，提升同步成功率。</a:t>
            </a:r>
            <a:endParaRPr lang="en-US" sz="1100"/>
          </a:p>
        </p:txBody>
      </p:sp>
    </p:spTree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常见问题</a:t>
            </a:r>
            <a:r>
              <a:rPr lang="en-US" sz="3200" b="1" i="0" u="none" strike="noStrike" dirty="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 3：出现红色叉号，同步失败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0" i="0" u="none" strike="noStrike" dirty="0" err="1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红色叉号表示文件同步失败，需要立即处理以避免数据丢失。请按照以下三个步骤逐一排查，快速定位并解决问题</a:t>
            </a:r>
            <a:r>
              <a:rPr lang="en-US" sz="1600" b="0" i="0" u="none" strike="noStrike" dirty="0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cxnSp>
        <p:nvCxnSpPr>
          <p:cNvPr id="5" name="Connector 5"/>
          <p:cNvCxnSpPr/>
          <p:nvPr/>
        </p:nvCxnSpPr>
        <p:spPr>
          <a:xfrm rot="-4092">
            <a:off x="762004" y="2406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78D4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762000" y="2794000"/>
            <a:ext cx="34290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0078D4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762000" y="2794000"/>
            <a:ext cx="3429000" cy="50800"/>
          </a:xfrm>
          <a:prstGeom prst="roundRect">
            <a:avLst>
              <a:gd name="adj" fmla="val 0"/>
            </a:avLst>
          </a:prstGeom>
          <a:solidFill>
            <a:srgbClr val="0078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3048000"/>
            <a:ext cx="355600" cy="355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397000" y="30226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01. </a:t>
            </a:r>
            <a:r>
              <a:rPr lang="en-US" sz="1800" b="1" i="0" u="none" strike="noStrike" dirty="0" err="1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检查文件名合规性</a:t>
            </a:r>
            <a:endParaRPr lang="en-US" sz="1100" dirty="0"/>
          </a:p>
        </p:txBody>
      </p:sp>
      <p:cxnSp>
        <p:nvCxnSpPr>
          <p:cNvPr id="10" name="Connector 10"/>
          <p:cNvCxnSpPr/>
          <p:nvPr/>
        </p:nvCxnSpPr>
        <p:spPr>
          <a:xfrm rot="-14323">
            <a:off x="952513" y="3613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952500" y="3810000"/>
            <a:ext cx="304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 dirty="0" err="1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OneDrive不支持文件名中包含特定特殊字符。若包含</a:t>
            </a:r>
            <a:r>
              <a:rPr lang="en-US" sz="1300" b="1" i="0" u="none" strike="noStrike" dirty="0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/ \ : * ? " &lt; &gt; |</a:t>
            </a:r>
            <a:r>
              <a:rPr lang="en-US" sz="1300" b="0" i="0" u="none" strike="noStrike" dirty="0" err="1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等符号，会直接导致同步被拒</a:t>
            </a:r>
            <a:r>
              <a:rPr lang="en-US" sz="1300" b="0" i="0" u="none" strike="noStrike" dirty="0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2" name="AutoShape 12"/>
          <p:cNvSpPr/>
          <p:nvPr/>
        </p:nvSpPr>
        <p:spPr>
          <a:xfrm>
            <a:off x="952499" y="4845050"/>
            <a:ext cx="3048000" cy="571500"/>
          </a:xfrm>
          <a:prstGeom prst="roundRect">
            <a:avLst>
              <a:gd name="adj" fmla="val 0"/>
            </a:avLst>
          </a:prstGeom>
          <a:solidFill>
            <a:srgbClr val="0078D4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1015999" y="4944413"/>
            <a:ext cx="2921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 dirty="0" err="1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解决方案：</a:t>
            </a:r>
            <a:r>
              <a:rPr lang="en-US" sz="1200" b="0" i="0" u="none" strike="noStrike" dirty="0" err="1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重命名文件，移除所有特殊字符后，重新触发同步</a:t>
            </a:r>
            <a:r>
              <a:rPr lang="en-US" sz="1200" b="0" i="0" u="none" strike="noStrike" dirty="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4" name="AutoShape 14"/>
          <p:cNvSpPr/>
          <p:nvPr/>
        </p:nvSpPr>
        <p:spPr>
          <a:xfrm>
            <a:off x="4381500" y="2794000"/>
            <a:ext cx="34290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0078D4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4381500" y="2794000"/>
            <a:ext cx="3429000" cy="50800"/>
          </a:xfrm>
          <a:prstGeom prst="roundRect">
            <a:avLst>
              <a:gd name="adj" fmla="val 0"/>
            </a:avLst>
          </a:prstGeom>
          <a:solidFill>
            <a:srgbClr val="0078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0" y="3048000"/>
            <a:ext cx="355600" cy="3556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5016500" y="30226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02. </a:t>
            </a:r>
            <a:r>
              <a:rPr lang="en-US" sz="1800" b="1" i="0" u="none" strike="noStrike" dirty="0" err="1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确认文件是否被占用</a:t>
            </a:r>
            <a:endParaRPr lang="en-US" sz="1100" dirty="0"/>
          </a:p>
        </p:txBody>
      </p:sp>
      <p:cxnSp>
        <p:nvCxnSpPr>
          <p:cNvPr id="18" name="Connector 18"/>
          <p:cNvCxnSpPr/>
          <p:nvPr/>
        </p:nvCxnSpPr>
        <p:spPr>
          <a:xfrm rot="-14323">
            <a:off x="4572013" y="3613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4572000" y="3810000"/>
            <a:ext cx="304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 dirty="0" err="1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如果文件正在被其他程序（如Excel、Word、Photoshop等）打开并占用，OneDrive将无法读取和上传该文件</a:t>
            </a:r>
            <a:r>
              <a:rPr lang="en-US" sz="1300" b="0" i="0" u="none" strike="noStrike" dirty="0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20" name="AutoShape 20"/>
          <p:cNvSpPr/>
          <p:nvPr/>
        </p:nvSpPr>
        <p:spPr>
          <a:xfrm>
            <a:off x="4571999" y="4867850"/>
            <a:ext cx="3048000" cy="571500"/>
          </a:xfrm>
          <a:prstGeom prst="roundRect">
            <a:avLst>
              <a:gd name="adj" fmla="val 0"/>
            </a:avLst>
          </a:prstGeom>
          <a:solidFill>
            <a:srgbClr val="0078D4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4635499" y="4968875"/>
            <a:ext cx="2921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 dirty="0" err="1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解决方案：</a:t>
            </a:r>
            <a:r>
              <a:rPr lang="en-US" sz="1200" b="0" i="0" u="none" strike="noStrike" dirty="0" err="1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关闭所有正在使用该文件的程序，释放占用后重试同步</a:t>
            </a:r>
            <a:r>
              <a:rPr lang="en-US" sz="1200" b="0" i="0" u="none" strike="noStrike" dirty="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22" name="AutoShape 22"/>
          <p:cNvSpPr/>
          <p:nvPr/>
        </p:nvSpPr>
        <p:spPr>
          <a:xfrm>
            <a:off x="8001000" y="2794000"/>
            <a:ext cx="34290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0078D4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8001000" y="2794000"/>
            <a:ext cx="3429000" cy="50800"/>
          </a:xfrm>
          <a:prstGeom prst="roundRect">
            <a:avLst>
              <a:gd name="adj" fmla="val 0"/>
            </a:avLst>
          </a:prstGeom>
          <a:solidFill>
            <a:srgbClr val="0078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91500" y="3048000"/>
            <a:ext cx="355600" cy="3556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8636000" y="30226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03. </a:t>
            </a:r>
            <a:r>
              <a:rPr lang="en-US" sz="1800" b="1" i="0" u="none" strike="noStrike" dirty="0" err="1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排查云端存储空间</a:t>
            </a:r>
            <a:endParaRPr lang="en-US" sz="1100" dirty="0"/>
          </a:p>
        </p:txBody>
      </p:sp>
      <p:cxnSp>
        <p:nvCxnSpPr>
          <p:cNvPr id="26" name="Connector 26"/>
          <p:cNvCxnSpPr/>
          <p:nvPr/>
        </p:nvCxnSpPr>
        <p:spPr>
          <a:xfrm rot="-14323">
            <a:off x="8191513" y="3613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8191500" y="3810000"/>
            <a:ext cx="304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 dirty="0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公司账号默认提供1TB空间，通常不会满，但个人文件过多或有大型备份时仍需确认云端是否有剩余配额。</a:t>
            </a:r>
            <a:endParaRPr lang="en-US" sz="1100" dirty="0"/>
          </a:p>
        </p:txBody>
      </p:sp>
      <p:sp>
        <p:nvSpPr>
          <p:cNvPr id="28" name="AutoShape 28"/>
          <p:cNvSpPr/>
          <p:nvPr/>
        </p:nvSpPr>
        <p:spPr>
          <a:xfrm>
            <a:off x="8128000" y="4867850"/>
            <a:ext cx="3048000" cy="571500"/>
          </a:xfrm>
          <a:prstGeom prst="roundRect">
            <a:avLst>
              <a:gd name="adj" fmla="val 0"/>
            </a:avLst>
          </a:prstGeom>
          <a:solidFill>
            <a:srgbClr val="0078D4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29"/>
          <p:cNvSpPr/>
          <p:nvPr/>
        </p:nvSpPr>
        <p:spPr>
          <a:xfrm>
            <a:off x="8255000" y="4931350"/>
            <a:ext cx="2921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 dirty="0" err="1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解决方案：</a:t>
            </a:r>
            <a:r>
              <a:rPr lang="en-US" sz="1200" b="0" i="0" u="none" strike="noStrike" dirty="0" err="1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登录网页端查看存储详情，删除云端冗余、不需要的文件以释放空间</a:t>
            </a:r>
            <a:r>
              <a:rPr lang="en-US" sz="1200" b="0" i="0" u="none" strike="noStrike" dirty="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</p:spTree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3" name="AutoShape 3"/>
          <p:cNvSpPr/>
          <p:nvPr/>
        </p:nvSpPr>
        <p:spPr>
          <a:xfrm>
            <a:off x="911673" y="8255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 dirty="0" err="1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总结与答疑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914400" y="2471215"/>
            <a:ext cx="32385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0078D4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21614" y="2691634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631936" y="2634185"/>
            <a:ext cx="2413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核心流程回顾</a:t>
            </a:r>
            <a:endParaRPr lang="en-US" sz="1100" dirty="0"/>
          </a:p>
        </p:txBody>
      </p:sp>
      <p:cxnSp>
        <p:nvCxnSpPr>
          <p:cNvPr id="7" name="Connector 7"/>
          <p:cNvCxnSpPr/>
          <p:nvPr/>
        </p:nvCxnSpPr>
        <p:spPr>
          <a:xfrm rot="-15278">
            <a:off x="1206513" y="3116786"/>
            <a:ext cx="285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78D4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185731" y="3161534"/>
            <a:ext cx="2857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 dirty="0" err="1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从客户端启动，输入企业邮箱，完成MFA多重验证，最后确认同步配置，即可快速完成登录接入</a:t>
            </a:r>
            <a:r>
              <a:rPr lang="en-US" sz="1300" b="0" i="0" u="none" strike="noStrike" dirty="0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9" name="AutoShape 9"/>
          <p:cNvSpPr/>
          <p:nvPr/>
        </p:nvSpPr>
        <p:spPr>
          <a:xfrm>
            <a:off x="4372423" y="2471642"/>
            <a:ext cx="32385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0078D4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18036" y="2691634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143500" y="2627878"/>
            <a:ext cx="2413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关键状态识别</a:t>
            </a:r>
            <a:endParaRPr lang="en-US" sz="1100" dirty="0"/>
          </a:p>
        </p:txBody>
      </p:sp>
      <p:cxnSp>
        <p:nvCxnSpPr>
          <p:cNvPr id="12" name="Connector 12"/>
          <p:cNvCxnSpPr/>
          <p:nvPr/>
        </p:nvCxnSpPr>
        <p:spPr>
          <a:xfrm rot="-15278">
            <a:off x="4616450" y="3102337"/>
            <a:ext cx="285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78D4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4616435" y="3251200"/>
            <a:ext cx="2857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 dirty="0" err="1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熟记绿色对钩（已同步</a:t>
            </a:r>
            <a:r>
              <a:rPr lang="en-US" sz="1300" b="0" i="0" u="none" strike="noStrike" dirty="0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）、</a:t>
            </a:r>
            <a:r>
              <a:rPr lang="en-US" sz="1300" b="0" i="0" u="none" strike="noStrike" dirty="0" err="1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蓝色云朵（仅在线</a:t>
            </a:r>
            <a:r>
              <a:rPr lang="en-US" sz="1300" b="0" i="0" u="none" strike="noStrike" dirty="0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）、</a:t>
            </a:r>
            <a:r>
              <a:rPr lang="en-US" sz="1300" b="0" i="0" u="none" strike="noStrike" dirty="0" err="1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蓝色箭头（同步中）及红色叉号（失败）的含义，快速判断运行状态</a:t>
            </a:r>
            <a:r>
              <a:rPr lang="en-US" sz="1300" b="0" i="0" u="none" strike="noStrike" dirty="0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4" name="AutoShape 14"/>
          <p:cNvSpPr/>
          <p:nvPr/>
        </p:nvSpPr>
        <p:spPr>
          <a:xfrm>
            <a:off x="7830446" y="2471215"/>
            <a:ext cx="32385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0078D4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42434" y="2691634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593269" y="2616030"/>
            <a:ext cx="2413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常见问题排查</a:t>
            </a:r>
            <a:endParaRPr lang="en-US" sz="1100" dirty="0"/>
          </a:p>
        </p:txBody>
      </p:sp>
      <p:cxnSp>
        <p:nvCxnSpPr>
          <p:cNvPr id="17" name="Connector 17"/>
          <p:cNvCxnSpPr/>
          <p:nvPr/>
        </p:nvCxnSpPr>
        <p:spPr>
          <a:xfrm rot="-15278">
            <a:off x="8148783" y="3155780"/>
            <a:ext cx="285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78D4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8135048" y="3236799"/>
            <a:ext cx="2857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 dirty="0" err="1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遇到同步异常时，优先检查账号权限、网络连接稳定性，以及文件名是否包含特殊字符，按序定位并解决问题</a:t>
            </a:r>
            <a:r>
              <a:rPr lang="en-US" sz="1300" b="0" i="0" u="none" strike="noStrike" dirty="0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9" name="AutoShape 19"/>
          <p:cNvSpPr/>
          <p:nvPr/>
        </p:nvSpPr>
        <p:spPr>
          <a:xfrm>
            <a:off x="911673" y="4761436"/>
            <a:ext cx="10160000" cy="698500"/>
          </a:xfrm>
          <a:prstGeom prst="roundRect">
            <a:avLst>
              <a:gd name="adj" fmla="val 0"/>
            </a:avLst>
          </a:prstGeom>
          <a:solidFill>
            <a:srgbClr val="0078D4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73826" y="4932886"/>
            <a:ext cx="355600" cy="3556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1728549" y="4856686"/>
            <a:ext cx="914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Q&amp;A </a:t>
            </a:r>
            <a:r>
              <a:rPr lang="en-US" sz="1600" b="1" i="0" u="none" strike="noStrike" dirty="0" err="1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互动环节：</a:t>
            </a:r>
            <a:r>
              <a:rPr lang="en-US" sz="1600" b="0" i="0" u="none" strike="noStrike" dirty="0" err="1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以上就是本次分享的全部内容，欢迎大家提出疑问或建议，我们现场交流解答</a:t>
            </a:r>
            <a:r>
              <a:rPr lang="en-US" sz="1600" b="0" i="0" u="none" strike="noStrike" dirty="0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切片">
  <a:themeElements>
    <a:clrScheme name="蓝色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切片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切片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658A409FEE6644C9F49EF08BD6600A1" ma:contentTypeVersion="8" ma:contentTypeDescription="Create a new document." ma:contentTypeScope="" ma:versionID="5c5738ae90f12becf0416d4549f1c16e">
  <xsd:schema xmlns:xsd="http://www.w3.org/2001/XMLSchema" xmlns:xs="http://www.w3.org/2001/XMLSchema" xmlns:p="http://schemas.microsoft.com/office/2006/metadata/properties" xmlns:ns2="855c19bd-d225-4736-982b-91be3757d23b" targetNamespace="http://schemas.microsoft.com/office/2006/metadata/properties" ma:root="true" ma:fieldsID="fc23c1225f8a4f7a1020dbe33de21d8f" ns2:_="">
    <xsd:import namespace="855c19bd-d225-4736-982b-91be3757d23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5c19bd-d225-4736-982b-91be3757d23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9B96766-402D-42BE-9A56-96166E6FDF6F}"/>
</file>

<file path=customXml/itemProps2.xml><?xml version="1.0" encoding="utf-8"?>
<ds:datastoreItem xmlns:ds="http://schemas.openxmlformats.org/officeDocument/2006/customXml" ds:itemID="{190B25A4-17E3-4629-850B-36B6B591C28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4BC8774-80F9-4853-B712-08AAF9C88F88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168</TotalTime>
  <Words>1466</Words>
  <Application>Microsoft Office PowerPoint</Application>
  <PresentationFormat>宽屏</PresentationFormat>
  <Paragraphs>211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24" baseType="lpstr">
      <vt:lpstr>Noto Sans SC</vt:lpstr>
      <vt:lpstr>Arial</vt:lpstr>
      <vt:lpstr>Century Gothic</vt:lpstr>
      <vt:lpstr>Wingdings 3</vt:lpstr>
      <vt:lpstr>Office 主题​​</vt:lpstr>
      <vt:lpstr>切片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Bollan Zhang</cp:lastModifiedBy>
  <cp:revision>2</cp:revision>
  <dcterms:modified xsi:type="dcterms:W3CDTF">2026-06-24T08:42:09Z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{"Label":"1","ContentProducer":"001191110102MACQD9K64010000","ProduceID":"7652269011942820806","ReservedCode1":"","ContentPropagator":"","PropagateID":"","ReservedCode2":""}</vt:lpwstr>
  </property>
  <property fmtid="{D5CDD505-2E9C-101B-9397-08002B2CF9AE}" pid="3" name="ContentTypeId">
    <vt:lpwstr>0x0101005658A409FEE6644C9F49EF08BD6600A1</vt:lpwstr>
  </property>
</Properties>
</file>